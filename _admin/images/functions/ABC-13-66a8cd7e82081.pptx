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69" r:id="rId14"/>
    <p:sldId id="270" r:id="rId15"/>
    <p:sldId id="277"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7" d="100"/>
          <a:sy n="67" d="100"/>
        </p:scale>
        <p:origin x="64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diagrams/_rels/data2.xml.rels><?xml version="1.0" encoding="UTF-8" standalone="yes"?>
<Relationships xmlns="http://schemas.openxmlformats.org/package/2006/relationships"><Relationship Id="rId1" Type="http://schemas.openxmlformats.org/officeDocument/2006/relationships/hyperlink" Target="https://corporatefinanceinstitute.com/resources/knowledge/finance/principal-payment/" TargetMode="External"/></Relationships>
</file>

<file path=ppt/diagrams/_rels/data4.xml.rels><?xml version="1.0" encoding="UTF-8" standalone="yes"?>
<Relationships xmlns="http://schemas.openxmlformats.org/package/2006/relationships"><Relationship Id="rId1" Type="http://schemas.openxmlformats.org/officeDocument/2006/relationships/hyperlink" Target="https://corporatefinanceinstitute.com/resources/knowledge/finance/annuity-due/" TargetMode="External"/></Relationships>
</file>

<file path=ppt/diagrams/_rels/data5.xml.rels><?xml version="1.0" encoding="UTF-8" standalone="yes"?>
<Relationships xmlns="http://schemas.openxmlformats.org/package/2006/relationships"><Relationship Id="rId1" Type="http://schemas.openxmlformats.org/officeDocument/2006/relationships/hyperlink" Target="https://corporatefinanceinstitute.com/resources/knowledge/finance/bullet-loan/" TargetMode="External"/></Relationships>
</file>

<file path=ppt/diagrams/_rels/drawing2.xml.rels><?xml version="1.0" encoding="UTF-8" standalone="yes"?>
<Relationships xmlns="http://schemas.openxmlformats.org/package/2006/relationships"><Relationship Id="rId1" Type="http://schemas.openxmlformats.org/officeDocument/2006/relationships/hyperlink" Target="https://corporatefinanceinstitute.com/resources/knowledge/finance/principal-payment/" TargetMode="External"/></Relationships>
</file>

<file path=ppt/diagrams/_rels/drawing4.xml.rels><?xml version="1.0" encoding="UTF-8" standalone="yes"?>
<Relationships xmlns="http://schemas.openxmlformats.org/package/2006/relationships"><Relationship Id="rId1" Type="http://schemas.openxmlformats.org/officeDocument/2006/relationships/hyperlink" Target="https://corporatefinanceinstitute.com/resources/knowledge/finance/annuity-due/" TargetMode="External"/></Relationships>
</file>

<file path=ppt/diagrams/_rels/drawing5.xml.rels><?xml version="1.0" encoding="UTF-8" standalone="yes"?>
<Relationships xmlns="http://schemas.openxmlformats.org/package/2006/relationships"><Relationship Id="rId1" Type="http://schemas.openxmlformats.org/officeDocument/2006/relationships/hyperlink" Target="https://corporatefinanceinstitute.com/resources/knowledge/finance/bullet-loan/" TargetMode="Externa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7FE40A3-B40D-4A34-837E-7108A0A9E2F9}"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A218C460-1142-4B73-A3DE-84F7C95E5C81}">
      <dgm:prSet/>
      <dgm:spPr/>
      <dgm:t>
        <a:bodyPr/>
        <a:lstStyle/>
        <a:p>
          <a:r>
            <a:rPr lang="en-US" i="0"/>
            <a:t>An amortization schedule is a table that provides the periodic payment information for an amortizing loan. </a:t>
          </a:r>
          <a:endParaRPr lang="en-US"/>
        </a:p>
      </dgm:t>
    </dgm:pt>
    <dgm:pt modelId="{6E50410E-8B5E-4CA1-B7C2-7FE60B08851D}" type="parTrans" cxnId="{44A5A8A5-112C-4894-84FB-A0F18C3AF392}">
      <dgm:prSet/>
      <dgm:spPr/>
      <dgm:t>
        <a:bodyPr/>
        <a:lstStyle/>
        <a:p>
          <a:endParaRPr lang="en-US"/>
        </a:p>
      </dgm:t>
    </dgm:pt>
    <dgm:pt modelId="{68B4291A-C6B3-453E-8A58-CA575EBDB803}" type="sibTrans" cxnId="{44A5A8A5-112C-4894-84FB-A0F18C3AF392}">
      <dgm:prSet/>
      <dgm:spPr/>
      <dgm:t>
        <a:bodyPr/>
        <a:lstStyle/>
        <a:p>
          <a:endParaRPr lang="en-US"/>
        </a:p>
      </dgm:t>
    </dgm:pt>
    <dgm:pt modelId="{9583A7C9-A86F-4E80-8005-63B2EDAC4DFA}">
      <dgm:prSet/>
      <dgm:spPr/>
      <dgm:t>
        <a:bodyPr/>
        <a:lstStyle/>
        <a:p>
          <a:r>
            <a:rPr lang="en-US" i="0"/>
            <a:t>The loan amount, interest rate, term to maturity, payment periods, and amortization method determine what an amortization schedule looks like.</a:t>
          </a:r>
          <a:endParaRPr lang="en-US"/>
        </a:p>
      </dgm:t>
    </dgm:pt>
    <dgm:pt modelId="{5AAF704F-0300-4498-90B8-619749172475}" type="parTrans" cxnId="{0034EF33-9A49-4D3C-8D70-EF4FA5325ACE}">
      <dgm:prSet/>
      <dgm:spPr/>
      <dgm:t>
        <a:bodyPr/>
        <a:lstStyle/>
        <a:p>
          <a:endParaRPr lang="en-US"/>
        </a:p>
      </dgm:t>
    </dgm:pt>
    <dgm:pt modelId="{A8E46809-C5F4-47D1-80C9-9A0DA522A430}" type="sibTrans" cxnId="{0034EF33-9A49-4D3C-8D70-EF4FA5325ACE}">
      <dgm:prSet/>
      <dgm:spPr/>
      <dgm:t>
        <a:bodyPr/>
        <a:lstStyle/>
        <a:p>
          <a:endParaRPr lang="en-US"/>
        </a:p>
      </dgm:t>
    </dgm:pt>
    <dgm:pt modelId="{404B7246-A28E-45F7-BCE8-D4350EE1C507}">
      <dgm:prSet/>
      <dgm:spPr/>
      <dgm:t>
        <a:bodyPr/>
        <a:lstStyle/>
        <a:p>
          <a:r>
            <a:rPr lang="en-US" i="0"/>
            <a:t>Amortization methods include the straight line, declining balance, annuity, bullet, balloon, and negative amortization</a:t>
          </a:r>
          <a:endParaRPr lang="en-US"/>
        </a:p>
      </dgm:t>
    </dgm:pt>
    <dgm:pt modelId="{1B0F28F8-22DE-403E-8196-28E6F5830397}" type="parTrans" cxnId="{540F5A3F-2421-46EC-9D07-57EB85960A14}">
      <dgm:prSet/>
      <dgm:spPr/>
      <dgm:t>
        <a:bodyPr/>
        <a:lstStyle/>
        <a:p>
          <a:endParaRPr lang="en-US"/>
        </a:p>
      </dgm:t>
    </dgm:pt>
    <dgm:pt modelId="{A1B276A9-D657-4114-B683-5EFAE10C56CB}" type="sibTrans" cxnId="{540F5A3F-2421-46EC-9D07-57EB85960A14}">
      <dgm:prSet/>
      <dgm:spPr/>
      <dgm:t>
        <a:bodyPr/>
        <a:lstStyle/>
        <a:p>
          <a:endParaRPr lang="en-US"/>
        </a:p>
      </dgm:t>
    </dgm:pt>
    <dgm:pt modelId="{1A80A3E7-2594-4797-92A6-8AEE41900C46}" type="pres">
      <dgm:prSet presAssocID="{D7FE40A3-B40D-4A34-837E-7108A0A9E2F9}" presName="linear" presStyleCnt="0">
        <dgm:presLayoutVars>
          <dgm:animLvl val="lvl"/>
          <dgm:resizeHandles val="exact"/>
        </dgm:presLayoutVars>
      </dgm:prSet>
      <dgm:spPr/>
    </dgm:pt>
    <dgm:pt modelId="{D8004BA7-7490-4F4D-9FEB-3C31D9E705BC}" type="pres">
      <dgm:prSet presAssocID="{A218C460-1142-4B73-A3DE-84F7C95E5C81}" presName="parentText" presStyleLbl="node1" presStyleIdx="0" presStyleCnt="3">
        <dgm:presLayoutVars>
          <dgm:chMax val="0"/>
          <dgm:bulletEnabled val="1"/>
        </dgm:presLayoutVars>
      </dgm:prSet>
      <dgm:spPr/>
    </dgm:pt>
    <dgm:pt modelId="{A7FB5384-040E-4296-BAC4-2141DBEFB3C3}" type="pres">
      <dgm:prSet presAssocID="{68B4291A-C6B3-453E-8A58-CA575EBDB803}" presName="spacer" presStyleCnt="0"/>
      <dgm:spPr/>
    </dgm:pt>
    <dgm:pt modelId="{42740911-6CDE-43B3-A461-FF6BC4AE6E7F}" type="pres">
      <dgm:prSet presAssocID="{9583A7C9-A86F-4E80-8005-63B2EDAC4DFA}" presName="parentText" presStyleLbl="node1" presStyleIdx="1" presStyleCnt="3">
        <dgm:presLayoutVars>
          <dgm:chMax val="0"/>
          <dgm:bulletEnabled val="1"/>
        </dgm:presLayoutVars>
      </dgm:prSet>
      <dgm:spPr/>
    </dgm:pt>
    <dgm:pt modelId="{D3FFA7EE-82BE-4C64-A427-D5F5A59A6FD3}" type="pres">
      <dgm:prSet presAssocID="{A8E46809-C5F4-47D1-80C9-9A0DA522A430}" presName="spacer" presStyleCnt="0"/>
      <dgm:spPr/>
    </dgm:pt>
    <dgm:pt modelId="{9842ED52-B81C-4AA6-8E64-FB5A7800DB4F}" type="pres">
      <dgm:prSet presAssocID="{404B7246-A28E-45F7-BCE8-D4350EE1C507}" presName="parentText" presStyleLbl="node1" presStyleIdx="2" presStyleCnt="3">
        <dgm:presLayoutVars>
          <dgm:chMax val="0"/>
          <dgm:bulletEnabled val="1"/>
        </dgm:presLayoutVars>
      </dgm:prSet>
      <dgm:spPr/>
    </dgm:pt>
  </dgm:ptLst>
  <dgm:cxnLst>
    <dgm:cxn modelId="{96FC7203-CB27-4D24-9268-027F0C9671D1}" type="presOf" srcId="{D7FE40A3-B40D-4A34-837E-7108A0A9E2F9}" destId="{1A80A3E7-2594-4797-92A6-8AEE41900C46}" srcOrd="0" destOrd="0" presId="urn:microsoft.com/office/officeart/2005/8/layout/vList2"/>
    <dgm:cxn modelId="{39941C1F-3688-431E-A36A-5D34E00AED51}" type="presOf" srcId="{9583A7C9-A86F-4E80-8005-63B2EDAC4DFA}" destId="{42740911-6CDE-43B3-A461-FF6BC4AE6E7F}" srcOrd="0" destOrd="0" presId="urn:microsoft.com/office/officeart/2005/8/layout/vList2"/>
    <dgm:cxn modelId="{0034EF33-9A49-4D3C-8D70-EF4FA5325ACE}" srcId="{D7FE40A3-B40D-4A34-837E-7108A0A9E2F9}" destId="{9583A7C9-A86F-4E80-8005-63B2EDAC4DFA}" srcOrd="1" destOrd="0" parTransId="{5AAF704F-0300-4498-90B8-619749172475}" sibTransId="{A8E46809-C5F4-47D1-80C9-9A0DA522A430}"/>
    <dgm:cxn modelId="{540F5A3F-2421-46EC-9D07-57EB85960A14}" srcId="{D7FE40A3-B40D-4A34-837E-7108A0A9E2F9}" destId="{404B7246-A28E-45F7-BCE8-D4350EE1C507}" srcOrd="2" destOrd="0" parTransId="{1B0F28F8-22DE-403E-8196-28E6F5830397}" sibTransId="{A1B276A9-D657-4114-B683-5EFAE10C56CB}"/>
    <dgm:cxn modelId="{A106E65F-EB91-45A0-922C-198BC045BEB8}" type="presOf" srcId="{404B7246-A28E-45F7-BCE8-D4350EE1C507}" destId="{9842ED52-B81C-4AA6-8E64-FB5A7800DB4F}" srcOrd="0" destOrd="0" presId="urn:microsoft.com/office/officeart/2005/8/layout/vList2"/>
    <dgm:cxn modelId="{C8B40E59-07ED-44B4-9C6C-F36CF9DF3AB5}" type="presOf" srcId="{A218C460-1142-4B73-A3DE-84F7C95E5C81}" destId="{D8004BA7-7490-4F4D-9FEB-3C31D9E705BC}" srcOrd="0" destOrd="0" presId="urn:microsoft.com/office/officeart/2005/8/layout/vList2"/>
    <dgm:cxn modelId="{44A5A8A5-112C-4894-84FB-A0F18C3AF392}" srcId="{D7FE40A3-B40D-4A34-837E-7108A0A9E2F9}" destId="{A218C460-1142-4B73-A3DE-84F7C95E5C81}" srcOrd="0" destOrd="0" parTransId="{6E50410E-8B5E-4CA1-B7C2-7FE60B08851D}" sibTransId="{68B4291A-C6B3-453E-8A58-CA575EBDB803}"/>
    <dgm:cxn modelId="{4BD5160D-5C43-4201-BB53-0824B401DA88}" type="presParOf" srcId="{1A80A3E7-2594-4797-92A6-8AEE41900C46}" destId="{D8004BA7-7490-4F4D-9FEB-3C31D9E705BC}" srcOrd="0" destOrd="0" presId="urn:microsoft.com/office/officeart/2005/8/layout/vList2"/>
    <dgm:cxn modelId="{D46487AF-D138-46F1-8D12-05051775CA7C}" type="presParOf" srcId="{1A80A3E7-2594-4797-92A6-8AEE41900C46}" destId="{A7FB5384-040E-4296-BAC4-2141DBEFB3C3}" srcOrd="1" destOrd="0" presId="urn:microsoft.com/office/officeart/2005/8/layout/vList2"/>
    <dgm:cxn modelId="{8D5605AE-8F36-47C9-A411-57B4E43F41A5}" type="presParOf" srcId="{1A80A3E7-2594-4797-92A6-8AEE41900C46}" destId="{42740911-6CDE-43B3-A461-FF6BC4AE6E7F}" srcOrd="2" destOrd="0" presId="urn:microsoft.com/office/officeart/2005/8/layout/vList2"/>
    <dgm:cxn modelId="{2303C972-BCBD-4ADE-87AE-361DC1CDC8E0}" type="presParOf" srcId="{1A80A3E7-2594-4797-92A6-8AEE41900C46}" destId="{D3FFA7EE-82BE-4C64-A427-D5F5A59A6FD3}" srcOrd="3" destOrd="0" presId="urn:microsoft.com/office/officeart/2005/8/layout/vList2"/>
    <dgm:cxn modelId="{D05BE928-036C-443E-AE9B-547B9C8096FE}" type="presParOf" srcId="{1A80A3E7-2594-4797-92A6-8AEE41900C46}" destId="{9842ED52-B81C-4AA6-8E64-FB5A7800DB4F}"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082BC82-6BCE-4523-A901-7984E1A60B6F}"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759A1B6F-E4F3-45EE-81C5-D666C8EC4EC6}">
      <dgm:prSet/>
      <dgm:spPr/>
      <dgm:t>
        <a:bodyPr/>
        <a:lstStyle/>
        <a:p>
          <a:r>
            <a:rPr lang="en-US" b="0" i="0"/>
            <a:t>Periodic payments are made for amortizing loans, such as a car or home mortgage. Each payment consists of two components – interest charge and </a:t>
          </a:r>
          <a:r>
            <a:rPr lang="en-US" b="0" i="0">
              <a:hlinkClick xmlns:r="http://schemas.openxmlformats.org/officeDocument/2006/relationships" r:id="rId1"/>
            </a:rPr>
            <a:t>principal repayment</a:t>
          </a:r>
          <a:r>
            <a:rPr lang="en-US" b="0" i="0"/>
            <a:t>. The percentage of interest or principal repayment varies for different loans.</a:t>
          </a:r>
          <a:endParaRPr lang="en-US"/>
        </a:p>
      </dgm:t>
    </dgm:pt>
    <dgm:pt modelId="{D583AEB2-AA89-464E-95A1-4A90D7645DC5}" type="parTrans" cxnId="{3472DD54-73CC-4D44-83CA-90CAB8976659}">
      <dgm:prSet/>
      <dgm:spPr/>
      <dgm:t>
        <a:bodyPr/>
        <a:lstStyle/>
        <a:p>
          <a:endParaRPr lang="en-US"/>
        </a:p>
      </dgm:t>
    </dgm:pt>
    <dgm:pt modelId="{DA49390D-0EDC-457F-A767-1BD8F1D5CF35}" type="sibTrans" cxnId="{3472DD54-73CC-4D44-83CA-90CAB8976659}">
      <dgm:prSet/>
      <dgm:spPr/>
      <dgm:t>
        <a:bodyPr/>
        <a:lstStyle/>
        <a:p>
          <a:endParaRPr lang="en-US"/>
        </a:p>
      </dgm:t>
    </dgm:pt>
    <dgm:pt modelId="{880FF06A-E5FD-433E-AEF0-A0E3B0A36D67}">
      <dgm:prSet/>
      <dgm:spPr/>
      <dgm:t>
        <a:bodyPr/>
        <a:lstStyle/>
        <a:p>
          <a:r>
            <a:rPr lang="en-US"/>
            <a:t>P</a:t>
          </a:r>
          <a:r>
            <a:rPr lang="en-US" b="0" i="0"/>
            <a:t>redetermined interest rate and the outstanding balance of the loan. </a:t>
          </a:r>
          <a:endParaRPr lang="en-US"/>
        </a:p>
      </dgm:t>
    </dgm:pt>
    <dgm:pt modelId="{57F69F89-B5E5-4720-8B0B-68ABD346F9EA}" type="parTrans" cxnId="{A734C7A2-3299-4E15-AFFD-08C847AC2D1E}">
      <dgm:prSet/>
      <dgm:spPr/>
      <dgm:t>
        <a:bodyPr/>
        <a:lstStyle/>
        <a:p>
          <a:endParaRPr lang="en-US"/>
        </a:p>
      </dgm:t>
    </dgm:pt>
    <dgm:pt modelId="{D8F6DE69-A398-4D3B-872D-8D465EF7542A}" type="sibTrans" cxnId="{A734C7A2-3299-4E15-AFFD-08C847AC2D1E}">
      <dgm:prSet/>
      <dgm:spPr/>
      <dgm:t>
        <a:bodyPr/>
        <a:lstStyle/>
        <a:p>
          <a:endParaRPr lang="en-US"/>
        </a:p>
      </dgm:t>
    </dgm:pt>
    <dgm:pt modelId="{F4D4F9A7-DF37-4211-AB7F-00B6691593B0}">
      <dgm:prSet/>
      <dgm:spPr/>
      <dgm:t>
        <a:bodyPr/>
        <a:lstStyle/>
        <a:p>
          <a:r>
            <a:rPr lang="en-US" b="0" i="0"/>
            <a:t>The remaining portion of the periodic payment</a:t>
          </a:r>
          <a:endParaRPr lang="en-US"/>
        </a:p>
      </dgm:t>
    </dgm:pt>
    <dgm:pt modelId="{6FC1193D-FE63-4275-BC39-C17422A47370}" type="parTrans" cxnId="{DF0467D1-ADFF-4D71-B96E-D82499624F61}">
      <dgm:prSet/>
      <dgm:spPr/>
      <dgm:t>
        <a:bodyPr/>
        <a:lstStyle/>
        <a:p>
          <a:endParaRPr lang="en-US"/>
        </a:p>
      </dgm:t>
    </dgm:pt>
    <dgm:pt modelId="{2253CD45-4F96-435E-BB69-01CF703C631A}" type="sibTrans" cxnId="{DF0467D1-ADFF-4D71-B96E-D82499624F61}">
      <dgm:prSet/>
      <dgm:spPr/>
      <dgm:t>
        <a:bodyPr/>
        <a:lstStyle/>
        <a:p>
          <a:endParaRPr lang="en-US"/>
        </a:p>
      </dgm:t>
    </dgm:pt>
    <dgm:pt modelId="{24183C6D-1DC9-4E8E-89A1-918C8F8CE5E6}">
      <dgm:prSet/>
      <dgm:spPr/>
      <dgm:t>
        <a:bodyPr/>
        <a:lstStyle/>
        <a:p>
          <a:r>
            <a:rPr lang="en-US"/>
            <a:t>R</a:t>
          </a:r>
          <a:r>
            <a:rPr lang="en-US" b="0" i="0"/>
            <a:t>emaining balance of an amortizing loan diminishes as time passes, with principals repaid.</a:t>
          </a:r>
          <a:endParaRPr lang="en-US"/>
        </a:p>
      </dgm:t>
    </dgm:pt>
    <dgm:pt modelId="{44FAF9DE-CEF0-46F6-B15D-F1DA6A7D3CA0}" type="parTrans" cxnId="{326C42A4-7C04-450A-86B7-3338294E96F2}">
      <dgm:prSet/>
      <dgm:spPr/>
      <dgm:t>
        <a:bodyPr/>
        <a:lstStyle/>
        <a:p>
          <a:endParaRPr lang="en-US"/>
        </a:p>
      </dgm:t>
    </dgm:pt>
    <dgm:pt modelId="{D6D43BD6-1F69-4580-8E8D-031A99233A8F}" type="sibTrans" cxnId="{326C42A4-7C04-450A-86B7-3338294E96F2}">
      <dgm:prSet/>
      <dgm:spPr/>
      <dgm:t>
        <a:bodyPr/>
        <a:lstStyle/>
        <a:p>
          <a:endParaRPr lang="en-US"/>
        </a:p>
      </dgm:t>
    </dgm:pt>
    <dgm:pt modelId="{7A5A200B-E1A4-4EF6-982F-65AB52F0B199}" type="pres">
      <dgm:prSet presAssocID="{2082BC82-6BCE-4523-A901-7984E1A60B6F}" presName="linear" presStyleCnt="0">
        <dgm:presLayoutVars>
          <dgm:animLvl val="lvl"/>
          <dgm:resizeHandles val="exact"/>
        </dgm:presLayoutVars>
      </dgm:prSet>
      <dgm:spPr/>
    </dgm:pt>
    <dgm:pt modelId="{93E38C0D-C6D1-48C7-B452-6B3A287B1510}" type="pres">
      <dgm:prSet presAssocID="{759A1B6F-E4F3-45EE-81C5-D666C8EC4EC6}" presName="parentText" presStyleLbl="node1" presStyleIdx="0" presStyleCnt="1">
        <dgm:presLayoutVars>
          <dgm:chMax val="0"/>
          <dgm:bulletEnabled val="1"/>
        </dgm:presLayoutVars>
      </dgm:prSet>
      <dgm:spPr/>
    </dgm:pt>
    <dgm:pt modelId="{CC5D51FD-B079-4947-B157-087EBBF67342}" type="pres">
      <dgm:prSet presAssocID="{759A1B6F-E4F3-45EE-81C5-D666C8EC4EC6}" presName="childText" presStyleLbl="revTx" presStyleIdx="0" presStyleCnt="1">
        <dgm:presLayoutVars>
          <dgm:bulletEnabled val="1"/>
        </dgm:presLayoutVars>
      </dgm:prSet>
      <dgm:spPr/>
    </dgm:pt>
  </dgm:ptLst>
  <dgm:cxnLst>
    <dgm:cxn modelId="{65EEF013-0DCC-4FD3-9422-55EEEFA229B6}" type="presOf" srcId="{2082BC82-6BCE-4523-A901-7984E1A60B6F}" destId="{7A5A200B-E1A4-4EF6-982F-65AB52F0B199}" srcOrd="0" destOrd="0" presId="urn:microsoft.com/office/officeart/2005/8/layout/vList2"/>
    <dgm:cxn modelId="{E9A78539-9A2E-4863-A3D7-5F0D29C972BF}" type="presOf" srcId="{F4D4F9A7-DF37-4211-AB7F-00B6691593B0}" destId="{CC5D51FD-B079-4947-B157-087EBBF67342}" srcOrd="0" destOrd="1" presId="urn:microsoft.com/office/officeart/2005/8/layout/vList2"/>
    <dgm:cxn modelId="{501C9D6F-F732-4901-91EF-A7F86FDD431E}" type="presOf" srcId="{880FF06A-E5FD-433E-AEF0-A0E3B0A36D67}" destId="{CC5D51FD-B079-4947-B157-087EBBF67342}" srcOrd="0" destOrd="0" presId="urn:microsoft.com/office/officeart/2005/8/layout/vList2"/>
    <dgm:cxn modelId="{EB525470-A41A-4703-885A-882150AA844B}" type="presOf" srcId="{24183C6D-1DC9-4E8E-89A1-918C8F8CE5E6}" destId="{CC5D51FD-B079-4947-B157-087EBBF67342}" srcOrd="0" destOrd="2" presId="urn:microsoft.com/office/officeart/2005/8/layout/vList2"/>
    <dgm:cxn modelId="{3472DD54-73CC-4D44-83CA-90CAB8976659}" srcId="{2082BC82-6BCE-4523-A901-7984E1A60B6F}" destId="{759A1B6F-E4F3-45EE-81C5-D666C8EC4EC6}" srcOrd="0" destOrd="0" parTransId="{D583AEB2-AA89-464E-95A1-4A90D7645DC5}" sibTransId="{DA49390D-0EDC-457F-A767-1BD8F1D5CF35}"/>
    <dgm:cxn modelId="{A734C7A2-3299-4E15-AFFD-08C847AC2D1E}" srcId="{759A1B6F-E4F3-45EE-81C5-D666C8EC4EC6}" destId="{880FF06A-E5FD-433E-AEF0-A0E3B0A36D67}" srcOrd="0" destOrd="0" parTransId="{57F69F89-B5E5-4720-8B0B-68ABD346F9EA}" sibTransId="{D8F6DE69-A398-4D3B-872D-8D465EF7542A}"/>
    <dgm:cxn modelId="{326C42A4-7C04-450A-86B7-3338294E96F2}" srcId="{759A1B6F-E4F3-45EE-81C5-D666C8EC4EC6}" destId="{24183C6D-1DC9-4E8E-89A1-918C8F8CE5E6}" srcOrd="2" destOrd="0" parTransId="{44FAF9DE-CEF0-46F6-B15D-F1DA6A7D3CA0}" sibTransId="{D6D43BD6-1F69-4580-8E8D-031A99233A8F}"/>
    <dgm:cxn modelId="{8EF0AECB-A4D4-4433-A43C-2B5CC14D71B0}" type="presOf" srcId="{759A1B6F-E4F3-45EE-81C5-D666C8EC4EC6}" destId="{93E38C0D-C6D1-48C7-B452-6B3A287B1510}" srcOrd="0" destOrd="0" presId="urn:microsoft.com/office/officeart/2005/8/layout/vList2"/>
    <dgm:cxn modelId="{DF0467D1-ADFF-4D71-B96E-D82499624F61}" srcId="{759A1B6F-E4F3-45EE-81C5-D666C8EC4EC6}" destId="{F4D4F9A7-DF37-4211-AB7F-00B6691593B0}" srcOrd="1" destOrd="0" parTransId="{6FC1193D-FE63-4275-BC39-C17422A47370}" sibTransId="{2253CD45-4F96-435E-BB69-01CF703C631A}"/>
    <dgm:cxn modelId="{FED82F92-5B85-474C-86B8-5B092C940DA0}" type="presParOf" srcId="{7A5A200B-E1A4-4EF6-982F-65AB52F0B199}" destId="{93E38C0D-C6D1-48C7-B452-6B3A287B1510}" srcOrd="0" destOrd="0" presId="urn:microsoft.com/office/officeart/2005/8/layout/vList2"/>
    <dgm:cxn modelId="{56491B8D-00EF-4376-B069-C500AD1D9A04}" type="presParOf" srcId="{7A5A200B-E1A4-4EF6-982F-65AB52F0B199}" destId="{CC5D51FD-B079-4947-B157-087EBBF67342}"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2D91ABC-297F-4FE6-AAD7-12BF98F05544}"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885ADCFD-8FDB-4A39-ACDE-57EBFD094B14}">
      <dgm:prSet/>
      <dgm:spPr/>
      <dgm:t>
        <a:bodyPr/>
        <a:lstStyle/>
        <a:p>
          <a:r>
            <a:rPr lang="en-GB" b="1" i="0"/>
            <a:t>1. Straight line</a:t>
          </a:r>
          <a:endParaRPr lang="en-US"/>
        </a:p>
      </dgm:t>
    </dgm:pt>
    <dgm:pt modelId="{D77482A0-F2DF-4750-A011-F9ED05572799}" type="parTrans" cxnId="{017946ED-0AFC-4FF0-B3F6-14F6398C2531}">
      <dgm:prSet/>
      <dgm:spPr/>
      <dgm:t>
        <a:bodyPr/>
        <a:lstStyle/>
        <a:p>
          <a:endParaRPr lang="en-US"/>
        </a:p>
      </dgm:t>
    </dgm:pt>
    <dgm:pt modelId="{D17C0783-D20B-484C-8D5A-2C0A1C911ACF}" type="sibTrans" cxnId="{017946ED-0AFC-4FF0-B3F6-14F6398C2531}">
      <dgm:prSet/>
      <dgm:spPr/>
      <dgm:t>
        <a:bodyPr/>
        <a:lstStyle/>
        <a:p>
          <a:endParaRPr lang="en-US"/>
        </a:p>
      </dgm:t>
    </dgm:pt>
    <dgm:pt modelId="{E8108149-E692-419F-92F4-CA8FB6B80340}">
      <dgm:prSet/>
      <dgm:spPr/>
      <dgm:t>
        <a:bodyPr/>
        <a:lstStyle/>
        <a:p>
          <a:r>
            <a:rPr lang="en-US" b="0" i="0"/>
            <a:t>The straight-line amortization, also known as linear amortization, is where the total interest amount is distributed equally over the life of a loan. It is a commonly used method in accounting due to its simplicity. With fixed periodic total payment and interest amount, the principal repayment is also constant over the life of the loan</a:t>
          </a:r>
          <a:endParaRPr lang="en-US"/>
        </a:p>
      </dgm:t>
    </dgm:pt>
    <dgm:pt modelId="{446D4689-510C-4145-85B9-7133D387CA49}" type="parTrans" cxnId="{47710080-FA4E-45E9-A137-11438C318207}">
      <dgm:prSet/>
      <dgm:spPr/>
      <dgm:t>
        <a:bodyPr/>
        <a:lstStyle/>
        <a:p>
          <a:endParaRPr lang="en-US"/>
        </a:p>
      </dgm:t>
    </dgm:pt>
    <dgm:pt modelId="{8FA7B4BF-A7E2-498A-90A1-636F7B71A3B5}" type="sibTrans" cxnId="{47710080-FA4E-45E9-A137-11438C318207}">
      <dgm:prSet/>
      <dgm:spPr/>
      <dgm:t>
        <a:bodyPr/>
        <a:lstStyle/>
        <a:p>
          <a:endParaRPr lang="en-US"/>
        </a:p>
      </dgm:t>
    </dgm:pt>
    <dgm:pt modelId="{F0CA053D-487E-489B-BC06-5D73458DFB62}" type="pres">
      <dgm:prSet presAssocID="{52D91ABC-297F-4FE6-AAD7-12BF98F05544}" presName="linear" presStyleCnt="0">
        <dgm:presLayoutVars>
          <dgm:animLvl val="lvl"/>
          <dgm:resizeHandles val="exact"/>
        </dgm:presLayoutVars>
      </dgm:prSet>
      <dgm:spPr/>
    </dgm:pt>
    <dgm:pt modelId="{59B71900-B9F1-4320-9850-9AF3945A7329}" type="pres">
      <dgm:prSet presAssocID="{885ADCFD-8FDB-4A39-ACDE-57EBFD094B14}" presName="parentText" presStyleLbl="node1" presStyleIdx="0" presStyleCnt="2">
        <dgm:presLayoutVars>
          <dgm:chMax val="0"/>
          <dgm:bulletEnabled val="1"/>
        </dgm:presLayoutVars>
      </dgm:prSet>
      <dgm:spPr/>
    </dgm:pt>
    <dgm:pt modelId="{5B346046-4DF4-43A3-9338-68C4538EF6E4}" type="pres">
      <dgm:prSet presAssocID="{D17C0783-D20B-484C-8D5A-2C0A1C911ACF}" presName="spacer" presStyleCnt="0"/>
      <dgm:spPr/>
    </dgm:pt>
    <dgm:pt modelId="{2036B806-2E90-4CD9-9B60-BE578F966B0A}" type="pres">
      <dgm:prSet presAssocID="{E8108149-E692-419F-92F4-CA8FB6B80340}" presName="parentText" presStyleLbl="node1" presStyleIdx="1" presStyleCnt="2">
        <dgm:presLayoutVars>
          <dgm:chMax val="0"/>
          <dgm:bulletEnabled val="1"/>
        </dgm:presLayoutVars>
      </dgm:prSet>
      <dgm:spPr/>
    </dgm:pt>
  </dgm:ptLst>
  <dgm:cxnLst>
    <dgm:cxn modelId="{126C2800-7F62-4F08-912D-5FB9CC7D32FC}" type="presOf" srcId="{E8108149-E692-419F-92F4-CA8FB6B80340}" destId="{2036B806-2E90-4CD9-9B60-BE578F966B0A}" srcOrd="0" destOrd="0" presId="urn:microsoft.com/office/officeart/2005/8/layout/vList2"/>
    <dgm:cxn modelId="{117C1805-3957-4A8A-BA89-70A04D3A8870}" type="presOf" srcId="{885ADCFD-8FDB-4A39-ACDE-57EBFD094B14}" destId="{59B71900-B9F1-4320-9850-9AF3945A7329}" srcOrd="0" destOrd="0" presId="urn:microsoft.com/office/officeart/2005/8/layout/vList2"/>
    <dgm:cxn modelId="{47710080-FA4E-45E9-A137-11438C318207}" srcId="{52D91ABC-297F-4FE6-AAD7-12BF98F05544}" destId="{E8108149-E692-419F-92F4-CA8FB6B80340}" srcOrd="1" destOrd="0" parTransId="{446D4689-510C-4145-85B9-7133D387CA49}" sibTransId="{8FA7B4BF-A7E2-498A-90A1-636F7B71A3B5}"/>
    <dgm:cxn modelId="{94F3F6E5-114F-445F-B8BE-13BDD6C90504}" type="presOf" srcId="{52D91ABC-297F-4FE6-AAD7-12BF98F05544}" destId="{F0CA053D-487E-489B-BC06-5D73458DFB62}" srcOrd="0" destOrd="0" presId="urn:microsoft.com/office/officeart/2005/8/layout/vList2"/>
    <dgm:cxn modelId="{017946ED-0AFC-4FF0-B3F6-14F6398C2531}" srcId="{52D91ABC-297F-4FE6-AAD7-12BF98F05544}" destId="{885ADCFD-8FDB-4A39-ACDE-57EBFD094B14}" srcOrd="0" destOrd="0" parTransId="{D77482A0-F2DF-4750-A011-F9ED05572799}" sibTransId="{D17C0783-D20B-484C-8D5A-2C0A1C911ACF}"/>
    <dgm:cxn modelId="{FF3F0968-FEBB-4B6E-A4B8-49E335015E3E}" type="presParOf" srcId="{F0CA053D-487E-489B-BC06-5D73458DFB62}" destId="{59B71900-B9F1-4320-9850-9AF3945A7329}" srcOrd="0" destOrd="0" presId="urn:microsoft.com/office/officeart/2005/8/layout/vList2"/>
    <dgm:cxn modelId="{59D1DCBF-CD78-469C-BE9C-57B998F723B1}" type="presParOf" srcId="{F0CA053D-487E-489B-BC06-5D73458DFB62}" destId="{5B346046-4DF4-43A3-9338-68C4538EF6E4}" srcOrd="1" destOrd="0" presId="urn:microsoft.com/office/officeart/2005/8/layout/vList2"/>
    <dgm:cxn modelId="{F99EF40C-5A2A-474E-9C8E-7643C53E011B}" type="presParOf" srcId="{F0CA053D-487E-489B-BC06-5D73458DFB62}" destId="{2036B806-2E90-4CD9-9B60-BE578F966B0A}"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9D357D3-5FDE-431E-90CF-820EDED299BF}" type="doc">
      <dgm:prSet loTypeId="urn:microsoft.com/office/officeart/2005/8/layout/vList2" loCatId="list" qsTypeId="urn:microsoft.com/office/officeart/2005/8/quickstyle/simple2" qsCatId="simple" csTypeId="urn:microsoft.com/office/officeart/2005/8/colors/colorful2" csCatId="colorful"/>
      <dgm:spPr/>
      <dgm:t>
        <a:bodyPr/>
        <a:lstStyle/>
        <a:p>
          <a:endParaRPr lang="en-US"/>
        </a:p>
      </dgm:t>
    </dgm:pt>
    <dgm:pt modelId="{C984B0E9-0AD0-4C70-A3B5-A75567DA4CBC}">
      <dgm:prSet/>
      <dgm:spPr/>
      <dgm:t>
        <a:bodyPr/>
        <a:lstStyle/>
        <a:p>
          <a:r>
            <a:rPr lang="en-US" b="0" i="0" dirty="0"/>
            <a:t>A loan amortized in the annuity method comprises a series of payments made between equal time intervals. The payments are also typically made in equal amounts. There are two types of annuity: </a:t>
          </a:r>
          <a:r>
            <a:rPr lang="en-US" b="1" i="0" dirty="0"/>
            <a:t>ordinary annuity</a:t>
          </a:r>
          <a:r>
            <a:rPr lang="en-US" b="0" i="0" dirty="0"/>
            <a:t>, for which payments are made at the end of each period, and </a:t>
          </a:r>
          <a:r>
            <a:rPr lang="en-US" b="1" i="0" dirty="0">
              <a:hlinkClick xmlns:r="http://schemas.openxmlformats.org/officeDocument/2006/relationships" r:id="rId1"/>
            </a:rPr>
            <a:t>annuity due</a:t>
          </a:r>
          <a:r>
            <a:rPr lang="en-US" b="0" i="0" dirty="0"/>
            <a:t>, for which payments are made at the beginning of each period.</a:t>
          </a:r>
          <a:endParaRPr lang="en-US" dirty="0"/>
        </a:p>
      </dgm:t>
    </dgm:pt>
    <dgm:pt modelId="{23A5D565-122B-449A-B7C9-B84F7EE878E6}" type="parTrans" cxnId="{354619E4-9D6E-4429-8206-A8F80A7F1C75}">
      <dgm:prSet/>
      <dgm:spPr/>
      <dgm:t>
        <a:bodyPr/>
        <a:lstStyle/>
        <a:p>
          <a:endParaRPr lang="en-US"/>
        </a:p>
      </dgm:t>
    </dgm:pt>
    <dgm:pt modelId="{B7384FCD-0378-4ED9-972E-585E0EC3FB80}" type="sibTrans" cxnId="{354619E4-9D6E-4429-8206-A8F80A7F1C75}">
      <dgm:prSet/>
      <dgm:spPr/>
      <dgm:t>
        <a:bodyPr/>
        <a:lstStyle/>
        <a:p>
          <a:endParaRPr lang="en-US"/>
        </a:p>
      </dgm:t>
    </dgm:pt>
    <dgm:pt modelId="{19FA80C6-5D2D-441E-BBB9-F8E4ADE47B0D}">
      <dgm:prSet/>
      <dgm:spPr/>
      <dgm:t>
        <a:bodyPr/>
        <a:lstStyle/>
        <a:p>
          <a:r>
            <a:rPr lang="en-US" b="0" i="0"/>
            <a:t>Different types of annuities can cause a slight difference between their amortization schedules. The higher the interest rate or the longer the loan life, the greater the difference. The amortization schedule example above uses the ordinary annuity method.</a:t>
          </a:r>
          <a:endParaRPr lang="en-US"/>
        </a:p>
      </dgm:t>
    </dgm:pt>
    <dgm:pt modelId="{7A30F0CC-77DF-49DE-BA84-EBD298AF496C}" type="parTrans" cxnId="{E8EADEF2-F357-4B61-B9F3-D09FDE63C88D}">
      <dgm:prSet/>
      <dgm:spPr/>
      <dgm:t>
        <a:bodyPr/>
        <a:lstStyle/>
        <a:p>
          <a:endParaRPr lang="en-US"/>
        </a:p>
      </dgm:t>
    </dgm:pt>
    <dgm:pt modelId="{54204E5D-76A2-4720-B53F-D15ADE6DE1B0}" type="sibTrans" cxnId="{E8EADEF2-F357-4B61-B9F3-D09FDE63C88D}">
      <dgm:prSet/>
      <dgm:spPr/>
      <dgm:t>
        <a:bodyPr/>
        <a:lstStyle/>
        <a:p>
          <a:endParaRPr lang="en-US"/>
        </a:p>
      </dgm:t>
    </dgm:pt>
    <dgm:pt modelId="{317500E5-7728-441E-B895-E863879D56BF}" type="pres">
      <dgm:prSet presAssocID="{69D357D3-5FDE-431E-90CF-820EDED299BF}" presName="linear" presStyleCnt="0">
        <dgm:presLayoutVars>
          <dgm:animLvl val="lvl"/>
          <dgm:resizeHandles val="exact"/>
        </dgm:presLayoutVars>
      </dgm:prSet>
      <dgm:spPr/>
    </dgm:pt>
    <dgm:pt modelId="{BA2A8FAF-68F3-4ADB-A892-8E190AF76A46}" type="pres">
      <dgm:prSet presAssocID="{C984B0E9-0AD0-4C70-A3B5-A75567DA4CBC}" presName="parentText" presStyleLbl="node1" presStyleIdx="0" presStyleCnt="2">
        <dgm:presLayoutVars>
          <dgm:chMax val="0"/>
          <dgm:bulletEnabled val="1"/>
        </dgm:presLayoutVars>
      </dgm:prSet>
      <dgm:spPr/>
    </dgm:pt>
    <dgm:pt modelId="{62D011C3-B5A2-45D0-A556-7C13AA37D8B9}" type="pres">
      <dgm:prSet presAssocID="{B7384FCD-0378-4ED9-972E-585E0EC3FB80}" presName="spacer" presStyleCnt="0"/>
      <dgm:spPr/>
    </dgm:pt>
    <dgm:pt modelId="{A2864DD5-61D9-42E2-9835-2D2B11AAAD0A}" type="pres">
      <dgm:prSet presAssocID="{19FA80C6-5D2D-441E-BBB9-F8E4ADE47B0D}" presName="parentText" presStyleLbl="node1" presStyleIdx="1" presStyleCnt="2">
        <dgm:presLayoutVars>
          <dgm:chMax val="0"/>
          <dgm:bulletEnabled val="1"/>
        </dgm:presLayoutVars>
      </dgm:prSet>
      <dgm:spPr/>
    </dgm:pt>
  </dgm:ptLst>
  <dgm:cxnLst>
    <dgm:cxn modelId="{F3CEFE89-C662-443B-8810-82353557FB6D}" type="presOf" srcId="{C984B0E9-0AD0-4C70-A3B5-A75567DA4CBC}" destId="{BA2A8FAF-68F3-4ADB-A892-8E190AF76A46}" srcOrd="0" destOrd="0" presId="urn:microsoft.com/office/officeart/2005/8/layout/vList2"/>
    <dgm:cxn modelId="{1AE2C8B5-3567-4714-8FEB-7F0DF5974A2F}" type="presOf" srcId="{19FA80C6-5D2D-441E-BBB9-F8E4ADE47B0D}" destId="{A2864DD5-61D9-42E2-9835-2D2B11AAAD0A}" srcOrd="0" destOrd="0" presId="urn:microsoft.com/office/officeart/2005/8/layout/vList2"/>
    <dgm:cxn modelId="{4DDF67BF-3016-453C-821E-8832ECA2C2B9}" type="presOf" srcId="{69D357D3-5FDE-431E-90CF-820EDED299BF}" destId="{317500E5-7728-441E-B895-E863879D56BF}" srcOrd="0" destOrd="0" presId="urn:microsoft.com/office/officeart/2005/8/layout/vList2"/>
    <dgm:cxn modelId="{354619E4-9D6E-4429-8206-A8F80A7F1C75}" srcId="{69D357D3-5FDE-431E-90CF-820EDED299BF}" destId="{C984B0E9-0AD0-4C70-A3B5-A75567DA4CBC}" srcOrd="0" destOrd="0" parTransId="{23A5D565-122B-449A-B7C9-B84F7EE878E6}" sibTransId="{B7384FCD-0378-4ED9-972E-585E0EC3FB80}"/>
    <dgm:cxn modelId="{E8EADEF2-F357-4B61-B9F3-D09FDE63C88D}" srcId="{69D357D3-5FDE-431E-90CF-820EDED299BF}" destId="{19FA80C6-5D2D-441E-BBB9-F8E4ADE47B0D}" srcOrd="1" destOrd="0" parTransId="{7A30F0CC-77DF-49DE-BA84-EBD298AF496C}" sibTransId="{54204E5D-76A2-4720-B53F-D15ADE6DE1B0}"/>
    <dgm:cxn modelId="{3FE6ED21-C1EB-4B4D-9BE3-5D0FB1BE12C9}" type="presParOf" srcId="{317500E5-7728-441E-B895-E863879D56BF}" destId="{BA2A8FAF-68F3-4ADB-A892-8E190AF76A46}" srcOrd="0" destOrd="0" presId="urn:microsoft.com/office/officeart/2005/8/layout/vList2"/>
    <dgm:cxn modelId="{21EA2742-63C9-4550-853D-5926E73C09A0}" type="presParOf" srcId="{317500E5-7728-441E-B895-E863879D56BF}" destId="{62D011C3-B5A2-45D0-A556-7C13AA37D8B9}" srcOrd="1" destOrd="0" presId="urn:microsoft.com/office/officeart/2005/8/layout/vList2"/>
    <dgm:cxn modelId="{39C8841D-2DEE-45C0-AB80-73C3AA4B608D}" type="presParOf" srcId="{317500E5-7728-441E-B895-E863879D56BF}" destId="{A2864DD5-61D9-42E2-9835-2D2B11AAAD0A}"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D06E935-73BA-42E6-A3C8-362106AE2607}"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5EB04555-A338-4345-A5AC-85A2450DDC43}">
      <dgm:prSet/>
      <dgm:spPr/>
      <dgm:t>
        <a:bodyPr/>
        <a:lstStyle/>
        <a:p>
          <a:r>
            <a:rPr lang="en-US" b="0" i="0">
              <a:hlinkClick xmlns:r="http://schemas.openxmlformats.org/officeDocument/2006/relationships" r:id="rId1"/>
            </a:rPr>
            <a:t>Bullet loans</a:t>
          </a:r>
          <a:r>
            <a:rPr lang="en-US" b="0" i="0"/>
            <a:t> are not typically amortized over the life of loans. Generally, the periodic payments of a bullet loan cover the interest charges only. It leaves a large amount of the final payment at the maturity of the loan, which repays the entire principal.</a:t>
          </a:r>
          <a:endParaRPr lang="en-US"/>
        </a:p>
      </dgm:t>
    </dgm:pt>
    <dgm:pt modelId="{C77DA47D-DB09-4E96-8A0B-38279EC77C09}" type="parTrans" cxnId="{680B0960-ABA9-4180-963D-D598ECA40DA0}">
      <dgm:prSet/>
      <dgm:spPr/>
      <dgm:t>
        <a:bodyPr/>
        <a:lstStyle/>
        <a:p>
          <a:endParaRPr lang="en-US"/>
        </a:p>
      </dgm:t>
    </dgm:pt>
    <dgm:pt modelId="{8A1DDE25-2C41-49D3-8068-0CC90A84F30A}" type="sibTrans" cxnId="{680B0960-ABA9-4180-963D-D598ECA40DA0}">
      <dgm:prSet/>
      <dgm:spPr/>
      <dgm:t>
        <a:bodyPr/>
        <a:lstStyle/>
        <a:p>
          <a:endParaRPr lang="en-US"/>
        </a:p>
      </dgm:t>
    </dgm:pt>
    <dgm:pt modelId="{4ABFAFC9-7954-4C17-B99A-484695912A48}">
      <dgm:prSet/>
      <dgm:spPr/>
      <dgm:t>
        <a:bodyPr/>
        <a:lstStyle/>
        <a:p>
          <a:r>
            <a:rPr lang="en-US" b="0" i="0"/>
            <a:t>Therefore, the balance outstanding of a bullet loan remains unchanged over the life of the loan and is lowered immediately to zero at maturity.</a:t>
          </a:r>
          <a:endParaRPr lang="en-US"/>
        </a:p>
      </dgm:t>
    </dgm:pt>
    <dgm:pt modelId="{5F54B124-40D5-4418-99D3-CD2D9ACBF406}" type="parTrans" cxnId="{917A8E23-3AC5-41A6-9FD0-B3BB2DA57C78}">
      <dgm:prSet/>
      <dgm:spPr/>
      <dgm:t>
        <a:bodyPr/>
        <a:lstStyle/>
        <a:p>
          <a:endParaRPr lang="en-US"/>
        </a:p>
      </dgm:t>
    </dgm:pt>
    <dgm:pt modelId="{EC05B95A-2358-40BA-94B9-33DEEA8932A4}" type="sibTrans" cxnId="{917A8E23-3AC5-41A6-9FD0-B3BB2DA57C78}">
      <dgm:prSet/>
      <dgm:spPr/>
      <dgm:t>
        <a:bodyPr/>
        <a:lstStyle/>
        <a:p>
          <a:endParaRPr lang="en-US"/>
        </a:p>
      </dgm:t>
    </dgm:pt>
    <dgm:pt modelId="{8EABBAD8-EC3C-48E0-9D3B-18A246B81D87}" type="pres">
      <dgm:prSet presAssocID="{AD06E935-73BA-42E6-A3C8-362106AE2607}" presName="linear" presStyleCnt="0">
        <dgm:presLayoutVars>
          <dgm:animLvl val="lvl"/>
          <dgm:resizeHandles val="exact"/>
        </dgm:presLayoutVars>
      </dgm:prSet>
      <dgm:spPr/>
    </dgm:pt>
    <dgm:pt modelId="{0FD6F517-0C7F-4E10-9231-F66BA9FB2487}" type="pres">
      <dgm:prSet presAssocID="{5EB04555-A338-4345-A5AC-85A2450DDC43}" presName="parentText" presStyleLbl="node1" presStyleIdx="0" presStyleCnt="2">
        <dgm:presLayoutVars>
          <dgm:chMax val="0"/>
          <dgm:bulletEnabled val="1"/>
        </dgm:presLayoutVars>
      </dgm:prSet>
      <dgm:spPr/>
    </dgm:pt>
    <dgm:pt modelId="{06DCE8CA-645A-4B88-A4A5-A0DA35E659B1}" type="pres">
      <dgm:prSet presAssocID="{8A1DDE25-2C41-49D3-8068-0CC90A84F30A}" presName="spacer" presStyleCnt="0"/>
      <dgm:spPr/>
    </dgm:pt>
    <dgm:pt modelId="{8AA5E67F-258B-445E-AEF2-711FCF2CFE59}" type="pres">
      <dgm:prSet presAssocID="{4ABFAFC9-7954-4C17-B99A-484695912A48}" presName="parentText" presStyleLbl="node1" presStyleIdx="1" presStyleCnt="2">
        <dgm:presLayoutVars>
          <dgm:chMax val="0"/>
          <dgm:bulletEnabled val="1"/>
        </dgm:presLayoutVars>
      </dgm:prSet>
      <dgm:spPr/>
    </dgm:pt>
  </dgm:ptLst>
  <dgm:cxnLst>
    <dgm:cxn modelId="{1468B41B-2BFE-4BB5-A9D9-336DB11F3D15}" type="presOf" srcId="{AD06E935-73BA-42E6-A3C8-362106AE2607}" destId="{8EABBAD8-EC3C-48E0-9D3B-18A246B81D87}" srcOrd="0" destOrd="0" presId="urn:microsoft.com/office/officeart/2005/8/layout/vList2"/>
    <dgm:cxn modelId="{917A8E23-3AC5-41A6-9FD0-B3BB2DA57C78}" srcId="{AD06E935-73BA-42E6-A3C8-362106AE2607}" destId="{4ABFAFC9-7954-4C17-B99A-484695912A48}" srcOrd="1" destOrd="0" parTransId="{5F54B124-40D5-4418-99D3-CD2D9ACBF406}" sibTransId="{EC05B95A-2358-40BA-94B9-33DEEA8932A4}"/>
    <dgm:cxn modelId="{680B0960-ABA9-4180-963D-D598ECA40DA0}" srcId="{AD06E935-73BA-42E6-A3C8-362106AE2607}" destId="{5EB04555-A338-4345-A5AC-85A2450DDC43}" srcOrd="0" destOrd="0" parTransId="{C77DA47D-DB09-4E96-8A0B-38279EC77C09}" sibTransId="{8A1DDE25-2C41-49D3-8068-0CC90A84F30A}"/>
    <dgm:cxn modelId="{0FCE8475-818C-4F3F-B1A9-91EAD1B1375F}" type="presOf" srcId="{4ABFAFC9-7954-4C17-B99A-484695912A48}" destId="{8AA5E67F-258B-445E-AEF2-711FCF2CFE59}" srcOrd="0" destOrd="0" presId="urn:microsoft.com/office/officeart/2005/8/layout/vList2"/>
    <dgm:cxn modelId="{9C71AB80-66C9-4358-8FBB-D436B52FCAA0}" type="presOf" srcId="{5EB04555-A338-4345-A5AC-85A2450DDC43}" destId="{0FD6F517-0C7F-4E10-9231-F66BA9FB2487}" srcOrd="0" destOrd="0" presId="urn:microsoft.com/office/officeart/2005/8/layout/vList2"/>
    <dgm:cxn modelId="{99A24E75-6BCF-48D0-9CDE-D2A503B2D2F4}" type="presParOf" srcId="{8EABBAD8-EC3C-48E0-9D3B-18A246B81D87}" destId="{0FD6F517-0C7F-4E10-9231-F66BA9FB2487}" srcOrd="0" destOrd="0" presId="urn:microsoft.com/office/officeart/2005/8/layout/vList2"/>
    <dgm:cxn modelId="{5D25E8ED-ED35-4E3A-8249-0AACABB98C11}" type="presParOf" srcId="{8EABBAD8-EC3C-48E0-9D3B-18A246B81D87}" destId="{06DCE8CA-645A-4B88-A4A5-A0DA35E659B1}" srcOrd="1" destOrd="0" presId="urn:microsoft.com/office/officeart/2005/8/layout/vList2"/>
    <dgm:cxn modelId="{1324F030-1D56-4AED-90FD-EA3C807C3F29}" type="presParOf" srcId="{8EABBAD8-EC3C-48E0-9D3B-18A246B81D87}" destId="{8AA5E67F-258B-445E-AEF2-711FCF2CFE59}"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6AC13FE-27C2-4431-A165-95CCBD9FEE3D}"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86A0AB76-7E7B-4959-9E8B-BDAB162C904A}">
      <dgm:prSet/>
      <dgm:spPr/>
      <dgm:t>
        <a:bodyPr/>
        <a:lstStyle/>
        <a:p>
          <a:r>
            <a:rPr lang="en-US" b="0" i="0"/>
            <a:t>SI = P × R × T, </a:t>
          </a:r>
          <a:endParaRPr lang="en-US"/>
        </a:p>
      </dgm:t>
    </dgm:pt>
    <dgm:pt modelId="{82F4237D-0817-43AD-8DA8-FEF3C20A00BB}" type="parTrans" cxnId="{C6A5196A-B26A-4E0F-BB26-57719BF031DB}">
      <dgm:prSet/>
      <dgm:spPr/>
      <dgm:t>
        <a:bodyPr/>
        <a:lstStyle/>
        <a:p>
          <a:endParaRPr lang="en-US"/>
        </a:p>
      </dgm:t>
    </dgm:pt>
    <dgm:pt modelId="{4EEB3A93-4C49-4DE2-91BE-000E4441BE4F}" type="sibTrans" cxnId="{C6A5196A-B26A-4E0F-BB26-57719BF031DB}">
      <dgm:prSet/>
      <dgm:spPr/>
      <dgm:t>
        <a:bodyPr/>
        <a:lstStyle/>
        <a:p>
          <a:endParaRPr lang="en-US"/>
        </a:p>
      </dgm:t>
    </dgm:pt>
    <dgm:pt modelId="{083675B0-E03F-4A94-8FDB-FC97FEB60013}">
      <dgm:prSet/>
      <dgm:spPr/>
      <dgm:t>
        <a:bodyPr/>
        <a:lstStyle/>
        <a:p>
          <a:r>
            <a:rPr lang="en-US" b="0" i="0"/>
            <a:t>where P= Principal, </a:t>
          </a:r>
          <a:endParaRPr lang="en-US"/>
        </a:p>
      </dgm:t>
    </dgm:pt>
    <dgm:pt modelId="{1E543A25-F8AE-40CB-8B2D-1285C1633036}" type="parTrans" cxnId="{06E625E7-C895-4771-8268-3364C188E7ED}">
      <dgm:prSet/>
      <dgm:spPr/>
      <dgm:t>
        <a:bodyPr/>
        <a:lstStyle/>
        <a:p>
          <a:endParaRPr lang="en-US"/>
        </a:p>
      </dgm:t>
    </dgm:pt>
    <dgm:pt modelId="{32E905C9-2001-45E4-AC03-A70CCAEF1CB8}" type="sibTrans" cxnId="{06E625E7-C895-4771-8268-3364C188E7ED}">
      <dgm:prSet/>
      <dgm:spPr/>
      <dgm:t>
        <a:bodyPr/>
        <a:lstStyle/>
        <a:p>
          <a:endParaRPr lang="en-US"/>
        </a:p>
      </dgm:t>
    </dgm:pt>
    <dgm:pt modelId="{C9A42F5C-BA8A-4C3A-8EC1-C24A256C685B}">
      <dgm:prSet/>
      <dgm:spPr/>
      <dgm:t>
        <a:bodyPr/>
        <a:lstStyle/>
        <a:p>
          <a:r>
            <a:rPr lang="en-US" b="0" i="0"/>
            <a:t>R= </a:t>
          </a:r>
          <a:r>
            <a:rPr lang="en-US" b="1" i="0"/>
            <a:t>rate</a:t>
          </a:r>
          <a:r>
            <a:rPr lang="en-US" b="0" i="0"/>
            <a:t> of </a:t>
          </a:r>
          <a:r>
            <a:rPr lang="en-US" b="1" i="0"/>
            <a:t>interest</a:t>
          </a:r>
          <a:r>
            <a:rPr lang="en-US" b="0" i="0"/>
            <a:t>, </a:t>
          </a:r>
          <a:endParaRPr lang="en-US"/>
        </a:p>
      </dgm:t>
    </dgm:pt>
    <dgm:pt modelId="{D925506E-947E-4DB5-9636-386B1FC753B6}" type="parTrans" cxnId="{25075CDF-32BC-4406-B20B-9EFCD87A6CB7}">
      <dgm:prSet/>
      <dgm:spPr/>
      <dgm:t>
        <a:bodyPr/>
        <a:lstStyle/>
        <a:p>
          <a:endParaRPr lang="en-US"/>
        </a:p>
      </dgm:t>
    </dgm:pt>
    <dgm:pt modelId="{0DFA6CE2-157D-48FD-B51A-5935F3F23412}" type="sibTrans" cxnId="{25075CDF-32BC-4406-B20B-9EFCD87A6CB7}">
      <dgm:prSet/>
      <dgm:spPr/>
      <dgm:t>
        <a:bodyPr/>
        <a:lstStyle/>
        <a:p>
          <a:endParaRPr lang="en-US"/>
        </a:p>
      </dgm:t>
    </dgm:pt>
    <dgm:pt modelId="{0E210575-9400-46A7-9093-F4FF4C890D0B}">
      <dgm:prSet/>
      <dgm:spPr/>
      <dgm:t>
        <a:bodyPr/>
        <a:lstStyle/>
        <a:p>
          <a:r>
            <a:rPr lang="en-US" b="0" i="0"/>
            <a:t>and T= time period.</a:t>
          </a:r>
          <a:endParaRPr lang="en-US"/>
        </a:p>
      </dgm:t>
    </dgm:pt>
    <dgm:pt modelId="{D9F5655A-ACF3-4D17-AFEF-9560FCE2370D}" type="parTrans" cxnId="{1191F021-6B87-4110-A53E-FC75498248B2}">
      <dgm:prSet/>
      <dgm:spPr/>
      <dgm:t>
        <a:bodyPr/>
        <a:lstStyle/>
        <a:p>
          <a:endParaRPr lang="en-US"/>
        </a:p>
      </dgm:t>
    </dgm:pt>
    <dgm:pt modelId="{E5E85AA1-E81C-4586-8392-DD9C7F414A0D}" type="sibTrans" cxnId="{1191F021-6B87-4110-A53E-FC75498248B2}">
      <dgm:prSet/>
      <dgm:spPr/>
      <dgm:t>
        <a:bodyPr/>
        <a:lstStyle/>
        <a:p>
          <a:endParaRPr lang="en-US"/>
        </a:p>
      </dgm:t>
    </dgm:pt>
    <dgm:pt modelId="{0FFE5FA8-6D99-4D08-87F1-018C6FD94186}" type="pres">
      <dgm:prSet presAssocID="{B6AC13FE-27C2-4431-A165-95CCBD9FEE3D}" presName="linear" presStyleCnt="0">
        <dgm:presLayoutVars>
          <dgm:animLvl val="lvl"/>
          <dgm:resizeHandles val="exact"/>
        </dgm:presLayoutVars>
      </dgm:prSet>
      <dgm:spPr/>
    </dgm:pt>
    <dgm:pt modelId="{EAAA2DAC-33D9-4E29-855D-AF10E4799A55}" type="pres">
      <dgm:prSet presAssocID="{86A0AB76-7E7B-4959-9E8B-BDAB162C904A}" presName="parentText" presStyleLbl="node1" presStyleIdx="0" presStyleCnt="4">
        <dgm:presLayoutVars>
          <dgm:chMax val="0"/>
          <dgm:bulletEnabled val="1"/>
        </dgm:presLayoutVars>
      </dgm:prSet>
      <dgm:spPr/>
    </dgm:pt>
    <dgm:pt modelId="{031409B8-8CDA-42BC-96DF-0793323696C3}" type="pres">
      <dgm:prSet presAssocID="{4EEB3A93-4C49-4DE2-91BE-000E4441BE4F}" presName="spacer" presStyleCnt="0"/>
      <dgm:spPr/>
    </dgm:pt>
    <dgm:pt modelId="{5B9E068C-6EE4-4A72-8E55-E86A3A65A04C}" type="pres">
      <dgm:prSet presAssocID="{083675B0-E03F-4A94-8FDB-FC97FEB60013}" presName="parentText" presStyleLbl="node1" presStyleIdx="1" presStyleCnt="4">
        <dgm:presLayoutVars>
          <dgm:chMax val="0"/>
          <dgm:bulletEnabled val="1"/>
        </dgm:presLayoutVars>
      </dgm:prSet>
      <dgm:spPr/>
    </dgm:pt>
    <dgm:pt modelId="{B2635A79-B7CE-4C2B-9B90-BA727BEED0C1}" type="pres">
      <dgm:prSet presAssocID="{32E905C9-2001-45E4-AC03-A70CCAEF1CB8}" presName="spacer" presStyleCnt="0"/>
      <dgm:spPr/>
    </dgm:pt>
    <dgm:pt modelId="{36027E89-4CF0-4D8E-A606-B393D14CBC38}" type="pres">
      <dgm:prSet presAssocID="{C9A42F5C-BA8A-4C3A-8EC1-C24A256C685B}" presName="parentText" presStyleLbl="node1" presStyleIdx="2" presStyleCnt="4">
        <dgm:presLayoutVars>
          <dgm:chMax val="0"/>
          <dgm:bulletEnabled val="1"/>
        </dgm:presLayoutVars>
      </dgm:prSet>
      <dgm:spPr/>
    </dgm:pt>
    <dgm:pt modelId="{B6EEB000-08BD-4383-BB4C-FC5CFF7EC310}" type="pres">
      <dgm:prSet presAssocID="{0DFA6CE2-157D-48FD-B51A-5935F3F23412}" presName="spacer" presStyleCnt="0"/>
      <dgm:spPr/>
    </dgm:pt>
    <dgm:pt modelId="{55DBC0A0-346B-415B-865E-90535124C865}" type="pres">
      <dgm:prSet presAssocID="{0E210575-9400-46A7-9093-F4FF4C890D0B}" presName="parentText" presStyleLbl="node1" presStyleIdx="3" presStyleCnt="4">
        <dgm:presLayoutVars>
          <dgm:chMax val="0"/>
          <dgm:bulletEnabled val="1"/>
        </dgm:presLayoutVars>
      </dgm:prSet>
      <dgm:spPr/>
    </dgm:pt>
  </dgm:ptLst>
  <dgm:cxnLst>
    <dgm:cxn modelId="{1191F021-6B87-4110-A53E-FC75498248B2}" srcId="{B6AC13FE-27C2-4431-A165-95CCBD9FEE3D}" destId="{0E210575-9400-46A7-9093-F4FF4C890D0B}" srcOrd="3" destOrd="0" parTransId="{D9F5655A-ACF3-4D17-AFEF-9560FCE2370D}" sibTransId="{E5E85AA1-E81C-4586-8392-DD9C7F414A0D}"/>
    <dgm:cxn modelId="{9C0E6141-53E8-497F-83C0-0A4BE6095CAA}" type="presOf" srcId="{083675B0-E03F-4A94-8FDB-FC97FEB60013}" destId="{5B9E068C-6EE4-4A72-8E55-E86A3A65A04C}" srcOrd="0" destOrd="0" presId="urn:microsoft.com/office/officeart/2005/8/layout/vList2"/>
    <dgm:cxn modelId="{C6A5196A-B26A-4E0F-BB26-57719BF031DB}" srcId="{B6AC13FE-27C2-4431-A165-95CCBD9FEE3D}" destId="{86A0AB76-7E7B-4959-9E8B-BDAB162C904A}" srcOrd="0" destOrd="0" parTransId="{82F4237D-0817-43AD-8DA8-FEF3C20A00BB}" sibTransId="{4EEB3A93-4C49-4DE2-91BE-000E4441BE4F}"/>
    <dgm:cxn modelId="{5F155A89-6338-4AAD-B5FE-A07ABE0867BF}" type="presOf" srcId="{0E210575-9400-46A7-9093-F4FF4C890D0B}" destId="{55DBC0A0-346B-415B-865E-90535124C865}" srcOrd="0" destOrd="0" presId="urn:microsoft.com/office/officeart/2005/8/layout/vList2"/>
    <dgm:cxn modelId="{CB1F1FD6-675B-49B4-88E5-2FDE1CCF1978}" type="presOf" srcId="{B6AC13FE-27C2-4431-A165-95CCBD9FEE3D}" destId="{0FFE5FA8-6D99-4D08-87F1-018C6FD94186}" srcOrd="0" destOrd="0" presId="urn:microsoft.com/office/officeart/2005/8/layout/vList2"/>
    <dgm:cxn modelId="{25075CDF-32BC-4406-B20B-9EFCD87A6CB7}" srcId="{B6AC13FE-27C2-4431-A165-95CCBD9FEE3D}" destId="{C9A42F5C-BA8A-4C3A-8EC1-C24A256C685B}" srcOrd="2" destOrd="0" parTransId="{D925506E-947E-4DB5-9636-386B1FC753B6}" sibTransId="{0DFA6CE2-157D-48FD-B51A-5935F3F23412}"/>
    <dgm:cxn modelId="{8007FEE2-2398-4C4F-8CBE-AB40C289DDBB}" type="presOf" srcId="{C9A42F5C-BA8A-4C3A-8EC1-C24A256C685B}" destId="{36027E89-4CF0-4D8E-A606-B393D14CBC38}" srcOrd="0" destOrd="0" presId="urn:microsoft.com/office/officeart/2005/8/layout/vList2"/>
    <dgm:cxn modelId="{8D6AA9E3-5F09-461C-9758-99BC7C02B390}" type="presOf" srcId="{86A0AB76-7E7B-4959-9E8B-BDAB162C904A}" destId="{EAAA2DAC-33D9-4E29-855D-AF10E4799A55}" srcOrd="0" destOrd="0" presId="urn:microsoft.com/office/officeart/2005/8/layout/vList2"/>
    <dgm:cxn modelId="{06E625E7-C895-4771-8268-3364C188E7ED}" srcId="{B6AC13FE-27C2-4431-A165-95CCBD9FEE3D}" destId="{083675B0-E03F-4A94-8FDB-FC97FEB60013}" srcOrd="1" destOrd="0" parTransId="{1E543A25-F8AE-40CB-8B2D-1285C1633036}" sibTransId="{32E905C9-2001-45E4-AC03-A70CCAEF1CB8}"/>
    <dgm:cxn modelId="{6A220351-FB1B-4910-9599-987756EE9D36}" type="presParOf" srcId="{0FFE5FA8-6D99-4D08-87F1-018C6FD94186}" destId="{EAAA2DAC-33D9-4E29-855D-AF10E4799A55}" srcOrd="0" destOrd="0" presId="urn:microsoft.com/office/officeart/2005/8/layout/vList2"/>
    <dgm:cxn modelId="{C186EA41-8913-4FFE-806E-C75835CD4AB8}" type="presParOf" srcId="{0FFE5FA8-6D99-4D08-87F1-018C6FD94186}" destId="{031409B8-8CDA-42BC-96DF-0793323696C3}" srcOrd="1" destOrd="0" presId="urn:microsoft.com/office/officeart/2005/8/layout/vList2"/>
    <dgm:cxn modelId="{28104B35-1E1F-4D12-9D21-3B7E7F2AD6DE}" type="presParOf" srcId="{0FFE5FA8-6D99-4D08-87F1-018C6FD94186}" destId="{5B9E068C-6EE4-4A72-8E55-E86A3A65A04C}" srcOrd="2" destOrd="0" presId="urn:microsoft.com/office/officeart/2005/8/layout/vList2"/>
    <dgm:cxn modelId="{22B46C03-A720-4D38-AD5A-B3E5508F8155}" type="presParOf" srcId="{0FFE5FA8-6D99-4D08-87F1-018C6FD94186}" destId="{B2635A79-B7CE-4C2B-9B90-BA727BEED0C1}" srcOrd="3" destOrd="0" presId="urn:microsoft.com/office/officeart/2005/8/layout/vList2"/>
    <dgm:cxn modelId="{40D1CFE4-BC2E-4CFC-9970-4D91AE3D0AD9}" type="presParOf" srcId="{0FFE5FA8-6D99-4D08-87F1-018C6FD94186}" destId="{36027E89-4CF0-4D8E-A606-B393D14CBC38}" srcOrd="4" destOrd="0" presId="urn:microsoft.com/office/officeart/2005/8/layout/vList2"/>
    <dgm:cxn modelId="{C2165B29-F3DA-46EF-B522-12B5FEE7A77E}" type="presParOf" srcId="{0FFE5FA8-6D99-4D08-87F1-018C6FD94186}" destId="{B6EEB000-08BD-4383-BB4C-FC5CFF7EC310}" srcOrd="5" destOrd="0" presId="urn:microsoft.com/office/officeart/2005/8/layout/vList2"/>
    <dgm:cxn modelId="{EE6CBBF7-923C-4A91-AF0C-2575EF0C6F49}" type="presParOf" srcId="{0FFE5FA8-6D99-4D08-87F1-018C6FD94186}" destId="{55DBC0A0-346B-415B-865E-90535124C865}"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004BA7-7490-4F4D-9FEB-3C31D9E705BC}">
      <dsp:nvSpPr>
        <dsp:cNvPr id="0" name=""/>
        <dsp:cNvSpPr/>
      </dsp:nvSpPr>
      <dsp:spPr>
        <a:xfrm>
          <a:off x="0" y="38246"/>
          <a:ext cx="6263640" cy="1761398"/>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i="0" kern="1200"/>
            <a:t>An amortization schedule is a table that provides the periodic payment information for an amortizing loan. </a:t>
          </a:r>
          <a:endParaRPr lang="en-US" sz="2500" kern="1200"/>
        </a:p>
      </dsp:txBody>
      <dsp:txXfrm>
        <a:off x="85984" y="124230"/>
        <a:ext cx="6091672" cy="1589430"/>
      </dsp:txXfrm>
    </dsp:sp>
    <dsp:sp modelId="{42740911-6CDE-43B3-A461-FF6BC4AE6E7F}">
      <dsp:nvSpPr>
        <dsp:cNvPr id="0" name=""/>
        <dsp:cNvSpPr/>
      </dsp:nvSpPr>
      <dsp:spPr>
        <a:xfrm>
          <a:off x="0" y="1871644"/>
          <a:ext cx="6263640" cy="1761398"/>
        </a:xfrm>
        <a:prstGeom prst="roundRect">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i="0" kern="1200"/>
            <a:t>The loan amount, interest rate, term to maturity, payment periods, and amortization method determine what an amortization schedule looks like.</a:t>
          </a:r>
          <a:endParaRPr lang="en-US" sz="2500" kern="1200"/>
        </a:p>
      </dsp:txBody>
      <dsp:txXfrm>
        <a:off x="85984" y="1957628"/>
        <a:ext cx="6091672" cy="1589430"/>
      </dsp:txXfrm>
    </dsp:sp>
    <dsp:sp modelId="{9842ED52-B81C-4AA6-8E64-FB5A7800DB4F}">
      <dsp:nvSpPr>
        <dsp:cNvPr id="0" name=""/>
        <dsp:cNvSpPr/>
      </dsp:nvSpPr>
      <dsp:spPr>
        <a:xfrm>
          <a:off x="0" y="3705043"/>
          <a:ext cx="6263640" cy="1761398"/>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i="0" kern="1200"/>
            <a:t>Amortization methods include the straight line, declining balance, annuity, bullet, balloon, and negative amortization</a:t>
          </a:r>
          <a:endParaRPr lang="en-US" sz="2500" kern="1200"/>
        </a:p>
      </dsp:txBody>
      <dsp:txXfrm>
        <a:off x="85984" y="3791027"/>
        <a:ext cx="6091672" cy="15894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E38C0D-C6D1-48C7-B452-6B3A287B1510}">
      <dsp:nvSpPr>
        <dsp:cNvPr id="0" name=""/>
        <dsp:cNvSpPr/>
      </dsp:nvSpPr>
      <dsp:spPr>
        <a:xfrm>
          <a:off x="0" y="230453"/>
          <a:ext cx="6263640" cy="327600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0" i="0" kern="1200"/>
            <a:t>Periodic payments are made for amortizing loans, such as a car or home mortgage. Each payment consists of two components – interest charge and </a:t>
          </a:r>
          <a:r>
            <a:rPr lang="en-US" sz="2800" b="0" i="0" kern="1200">
              <a:hlinkClick xmlns:r="http://schemas.openxmlformats.org/officeDocument/2006/relationships" r:id="rId1"/>
            </a:rPr>
            <a:t>principal repayment</a:t>
          </a:r>
          <a:r>
            <a:rPr lang="en-US" sz="2800" b="0" i="0" kern="1200"/>
            <a:t>. The percentage of interest or principal repayment varies for different loans.</a:t>
          </a:r>
          <a:endParaRPr lang="en-US" sz="2800" kern="1200"/>
        </a:p>
      </dsp:txBody>
      <dsp:txXfrm>
        <a:off x="159921" y="390374"/>
        <a:ext cx="5943798" cy="2956158"/>
      </dsp:txXfrm>
    </dsp:sp>
    <dsp:sp modelId="{CC5D51FD-B079-4947-B157-087EBBF67342}">
      <dsp:nvSpPr>
        <dsp:cNvPr id="0" name=""/>
        <dsp:cNvSpPr/>
      </dsp:nvSpPr>
      <dsp:spPr>
        <a:xfrm>
          <a:off x="0" y="3506454"/>
          <a:ext cx="6263640" cy="17677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871" tIns="35560" rIns="199136" bIns="35560" numCol="1" spcCol="1270" anchor="t" anchorCtr="0">
          <a:noAutofit/>
        </a:bodyPr>
        <a:lstStyle/>
        <a:p>
          <a:pPr marL="228600" lvl="1" indent="-228600" algn="l" defTabSz="977900">
            <a:lnSpc>
              <a:spcPct val="90000"/>
            </a:lnSpc>
            <a:spcBef>
              <a:spcPct val="0"/>
            </a:spcBef>
            <a:spcAft>
              <a:spcPct val="20000"/>
            </a:spcAft>
            <a:buChar char="•"/>
          </a:pPr>
          <a:r>
            <a:rPr lang="en-US" sz="2200" kern="1200"/>
            <a:t>P</a:t>
          </a:r>
          <a:r>
            <a:rPr lang="en-US" sz="2200" b="0" i="0" kern="1200"/>
            <a:t>redetermined interest rate and the outstanding balance of the loan. </a:t>
          </a:r>
          <a:endParaRPr lang="en-US" sz="2200" kern="1200"/>
        </a:p>
        <a:p>
          <a:pPr marL="228600" lvl="1" indent="-228600" algn="l" defTabSz="977900">
            <a:lnSpc>
              <a:spcPct val="90000"/>
            </a:lnSpc>
            <a:spcBef>
              <a:spcPct val="0"/>
            </a:spcBef>
            <a:spcAft>
              <a:spcPct val="20000"/>
            </a:spcAft>
            <a:buChar char="•"/>
          </a:pPr>
          <a:r>
            <a:rPr lang="en-US" sz="2200" b="0" i="0" kern="1200"/>
            <a:t>The remaining portion of the periodic payment</a:t>
          </a:r>
          <a:endParaRPr lang="en-US" sz="2200" kern="1200"/>
        </a:p>
        <a:p>
          <a:pPr marL="228600" lvl="1" indent="-228600" algn="l" defTabSz="977900">
            <a:lnSpc>
              <a:spcPct val="90000"/>
            </a:lnSpc>
            <a:spcBef>
              <a:spcPct val="0"/>
            </a:spcBef>
            <a:spcAft>
              <a:spcPct val="20000"/>
            </a:spcAft>
            <a:buChar char="•"/>
          </a:pPr>
          <a:r>
            <a:rPr lang="en-US" sz="2200" kern="1200"/>
            <a:t>R</a:t>
          </a:r>
          <a:r>
            <a:rPr lang="en-US" sz="2200" b="0" i="0" kern="1200"/>
            <a:t>emaining balance of an amortizing loan diminishes as time passes, with principals repaid.</a:t>
          </a:r>
          <a:endParaRPr lang="en-US" sz="2200" kern="1200"/>
        </a:p>
      </dsp:txBody>
      <dsp:txXfrm>
        <a:off x="0" y="3506454"/>
        <a:ext cx="6263640" cy="176778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B71900-B9F1-4320-9850-9AF3945A7329}">
      <dsp:nvSpPr>
        <dsp:cNvPr id="0" name=""/>
        <dsp:cNvSpPr/>
      </dsp:nvSpPr>
      <dsp:spPr>
        <a:xfrm>
          <a:off x="0" y="148272"/>
          <a:ext cx="6263640" cy="2572391"/>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GB" sz="2200" b="1" i="0" kern="1200"/>
            <a:t>1. Straight line</a:t>
          </a:r>
          <a:endParaRPr lang="en-US" sz="2200" kern="1200"/>
        </a:p>
      </dsp:txBody>
      <dsp:txXfrm>
        <a:off x="125574" y="273846"/>
        <a:ext cx="6012492" cy="2321243"/>
      </dsp:txXfrm>
    </dsp:sp>
    <dsp:sp modelId="{2036B806-2E90-4CD9-9B60-BE578F966B0A}">
      <dsp:nvSpPr>
        <dsp:cNvPr id="0" name=""/>
        <dsp:cNvSpPr/>
      </dsp:nvSpPr>
      <dsp:spPr>
        <a:xfrm>
          <a:off x="0" y="2784023"/>
          <a:ext cx="6263640" cy="2572391"/>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0" i="0" kern="1200"/>
            <a:t>The straight-line amortization, also known as linear amortization, is where the total interest amount is distributed equally over the life of a loan. It is a commonly used method in accounting due to its simplicity. With fixed periodic total payment and interest amount, the principal repayment is also constant over the life of the loan</a:t>
          </a:r>
          <a:endParaRPr lang="en-US" sz="2200" kern="1200"/>
        </a:p>
      </dsp:txBody>
      <dsp:txXfrm>
        <a:off x="125574" y="2909597"/>
        <a:ext cx="6012492" cy="232124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2A8FAF-68F3-4ADB-A892-8E190AF76A46}">
      <dsp:nvSpPr>
        <dsp:cNvPr id="0" name=""/>
        <dsp:cNvSpPr/>
      </dsp:nvSpPr>
      <dsp:spPr>
        <a:xfrm>
          <a:off x="0" y="13509"/>
          <a:ext cx="6586489" cy="185328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i="0" kern="1200" dirty="0"/>
            <a:t>A loan amortized in the annuity method comprises a series of payments made between equal time intervals. The payments are also typically made in equal amounts. There are two types of annuity: </a:t>
          </a:r>
          <a:r>
            <a:rPr lang="en-US" sz="1800" b="1" i="0" kern="1200" dirty="0"/>
            <a:t>ordinary annuity</a:t>
          </a:r>
          <a:r>
            <a:rPr lang="en-US" sz="1800" b="0" i="0" kern="1200" dirty="0"/>
            <a:t>, for which payments are made at the end of each period, and </a:t>
          </a:r>
          <a:r>
            <a:rPr lang="en-US" sz="1800" b="1" i="0" kern="1200" dirty="0">
              <a:hlinkClick xmlns:r="http://schemas.openxmlformats.org/officeDocument/2006/relationships" r:id="rId1"/>
            </a:rPr>
            <a:t>annuity due</a:t>
          </a:r>
          <a:r>
            <a:rPr lang="en-US" sz="1800" b="0" i="0" kern="1200" dirty="0"/>
            <a:t>, for which payments are made at the beginning of each period.</a:t>
          </a:r>
          <a:endParaRPr lang="en-US" sz="1800" kern="1200" dirty="0"/>
        </a:p>
      </dsp:txBody>
      <dsp:txXfrm>
        <a:off x="90470" y="103979"/>
        <a:ext cx="6405549" cy="1672340"/>
      </dsp:txXfrm>
    </dsp:sp>
    <dsp:sp modelId="{A2864DD5-61D9-42E2-9835-2D2B11AAAD0A}">
      <dsp:nvSpPr>
        <dsp:cNvPr id="0" name=""/>
        <dsp:cNvSpPr/>
      </dsp:nvSpPr>
      <dsp:spPr>
        <a:xfrm>
          <a:off x="0" y="1918629"/>
          <a:ext cx="6586489" cy="1853280"/>
        </a:xfrm>
        <a:prstGeom prst="roundRect">
          <a:avLst/>
        </a:prstGeom>
        <a:solidFill>
          <a:schemeClr val="accent2">
            <a:hueOff val="-1455363"/>
            <a:satOff val="-83928"/>
            <a:lumOff val="8628"/>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i="0" kern="1200"/>
            <a:t>Different types of annuities can cause a slight difference between their amortization schedules. The higher the interest rate or the longer the loan life, the greater the difference. The amortization schedule example above uses the ordinary annuity method.</a:t>
          </a:r>
          <a:endParaRPr lang="en-US" sz="1800" kern="1200"/>
        </a:p>
      </dsp:txBody>
      <dsp:txXfrm>
        <a:off x="90470" y="2009099"/>
        <a:ext cx="6405549" cy="167234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D6F517-0C7F-4E10-9231-F66BA9FB2487}">
      <dsp:nvSpPr>
        <dsp:cNvPr id="0" name=""/>
        <dsp:cNvSpPr/>
      </dsp:nvSpPr>
      <dsp:spPr>
        <a:xfrm>
          <a:off x="0" y="142343"/>
          <a:ext cx="6263640" cy="257400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0" i="0" kern="1200">
              <a:hlinkClick xmlns:r="http://schemas.openxmlformats.org/officeDocument/2006/relationships" r:id="rId1"/>
            </a:rPr>
            <a:t>Bullet loans</a:t>
          </a:r>
          <a:r>
            <a:rPr lang="en-US" sz="2500" b="0" i="0" kern="1200"/>
            <a:t> are not typically amortized over the life of loans. Generally, the periodic payments of a bullet loan cover the interest charges only. It leaves a large amount of the final payment at the maturity of the loan, which repays the entire principal.</a:t>
          </a:r>
          <a:endParaRPr lang="en-US" sz="2500" kern="1200"/>
        </a:p>
      </dsp:txBody>
      <dsp:txXfrm>
        <a:off x="125652" y="267995"/>
        <a:ext cx="6012336" cy="2322696"/>
      </dsp:txXfrm>
    </dsp:sp>
    <dsp:sp modelId="{8AA5E67F-258B-445E-AEF2-711FCF2CFE59}">
      <dsp:nvSpPr>
        <dsp:cNvPr id="0" name=""/>
        <dsp:cNvSpPr/>
      </dsp:nvSpPr>
      <dsp:spPr>
        <a:xfrm>
          <a:off x="0" y="2788343"/>
          <a:ext cx="6263640" cy="2574000"/>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0" i="0" kern="1200"/>
            <a:t>Therefore, the balance outstanding of a bullet loan remains unchanged over the life of the loan and is lowered immediately to zero at maturity.</a:t>
          </a:r>
          <a:endParaRPr lang="en-US" sz="2500" kern="1200"/>
        </a:p>
      </dsp:txBody>
      <dsp:txXfrm>
        <a:off x="125652" y="2913995"/>
        <a:ext cx="6012336" cy="232269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AA2DAC-33D9-4E29-855D-AF10E4799A55}">
      <dsp:nvSpPr>
        <dsp:cNvPr id="0" name=""/>
        <dsp:cNvSpPr/>
      </dsp:nvSpPr>
      <dsp:spPr>
        <a:xfrm>
          <a:off x="0" y="33263"/>
          <a:ext cx="6263640" cy="124722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a:lnSpc>
              <a:spcPct val="90000"/>
            </a:lnSpc>
            <a:spcBef>
              <a:spcPct val="0"/>
            </a:spcBef>
            <a:spcAft>
              <a:spcPct val="35000"/>
            </a:spcAft>
            <a:buNone/>
          </a:pPr>
          <a:r>
            <a:rPr lang="en-US" sz="5200" b="0" i="0" kern="1200"/>
            <a:t>SI = P × R × T, </a:t>
          </a:r>
          <a:endParaRPr lang="en-US" sz="5200" kern="1200"/>
        </a:p>
      </dsp:txBody>
      <dsp:txXfrm>
        <a:off x="60884" y="94147"/>
        <a:ext cx="6141872" cy="1125452"/>
      </dsp:txXfrm>
    </dsp:sp>
    <dsp:sp modelId="{5B9E068C-6EE4-4A72-8E55-E86A3A65A04C}">
      <dsp:nvSpPr>
        <dsp:cNvPr id="0" name=""/>
        <dsp:cNvSpPr/>
      </dsp:nvSpPr>
      <dsp:spPr>
        <a:xfrm>
          <a:off x="0" y="1430243"/>
          <a:ext cx="6263640" cy="1247220"/>
        </a:xfrm>
        <a:prstGeom prst="roundRect">
          <a:avLst/>
        </a:prstGeom>
        <a:solidFill>
          <a:schemeClr val="accent5">
            <a:hueOff val="-2252848"/>
            <a:satOff val="-5806"/>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a:lnSpc>
              <a:spcPct val="90000"/>
            </a:lnSpc>
            <a:spcBef>
              <a:spcPct val="0"/>
            </a:spcBef>
            <a:spcAft>
              <a:spcPct val="35000"/>
            </a:spcAft>
            <a:buNone/>
          </a:pPr>
          <a:r>
            <a:rPr lang="en-US" sz="5200" b="0" i="0" kern="1200"/>
            <a:t>where P= Principal, </a:t>
          </a:r>
          <a:endParaRPr lang="en-US" sz="5200" kern="1200"/>
        </a:p>
      </dsp:txBody>
      <dsp:txXfrm>
        <a:off x="60884" y="1491127"/>
        <a:ext cx="6141872" cy="1125452"/>
      </dsp:txXfrm>
    </dsp:sp>
    <dsp:sp modelId="{36027E89-4CF0-4D8E-A606-B393D14CBC38}">
      <dsp:nvSpPr>
        <dsp:cNvPr id="0" name=""/>
        <dsp:cNvSpPr/>
      </dsp:nvSpPr>
      <dsp:spPr>
        <a:xfrm>
          <a:off x="0" y="2827223"/>
          <a:ext cx="6263640" cy="1247220"/>
        </a:xfrm>
        <a:prstGeom prst="roundRect">
          <a:avLst/>
        </a:prstGeom>
        <a:solidFill>
          <a:schemeClr val="accent5">
            <a:hueOff val="-4505695"/>
            <a:satOff val="-11613"/>
            <a:lumOff val="-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a:lnSpc>
              <a:spcPct val="90000"/>
            </a:lnSpc>
            <a:spcBef>
              <a:spcPct val="0"/>
            </a:spcBef>
            <a:spcAft>
              <a:spcPct val="35000"/>
            </a:spcAft>
            <a:buNone/>
          </a:pPr>
          <a:r>
            <a:rPr lang="en-US" sz="5200" b="0" i="0" kern="1200"/>
            <a:t>R= </a:t>
          </a:r>
          <a:r>
            <a:rPr lang="en-US" sz="5200" b="1" i="0" kern="1200"/>
            <a:t>rate</a:t>
          </a:r>
          <a:r>
            <a:rPr lang="en-US" sz="5200" b="0" i="0" kern="1200"/>
            <a:t> of </a:t>
          </a:r>
          <a:r>
            <a:rPr lang="en-US" sz="5200" b="1" i="0" kern="1200"/>
            <a:t>interest</a:t>
          </a:r>
          <a:r>
            <a:rPr lang="en-US" sz="5200" b="0" i="0" kern="1200"/>
            <a:t>, </a:t>
          </a:r>
          <a:endParaRPr lang="en-US" sz="5200" kern="1200"/>
        </a:p>
      </dsp:txBody>
      <dsp:txXfrm>
        <a:off x="60884" y="2888107"/>
        <a:ext cx="6141872" cy="1125452"/>
      </dsp:txXfrm>
    </dsp:sp>
    <dsp:sp modelId="{55DBC0A0-346B-415B-865E-90535124C865}">
      <dsp:nvSpPr>
        <dsp:cNvPr id="0" name=""/>
        <dsp:cNvSpPr/>
      </dsp:nvSpPr>
      <dsp:spPr>
        <a:xfrm>
          <a:off x="0" y="4224204"/>
          <a:ext cx="6263640" cy="1247220"/>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a:lnSpc>
              <a:spcPct val="90000"/>
            </a:lnSpc>
            <a:spcBef>
              <a:spcPct val="0"/>
            </a:spcBef>
            <a:spcAft>
              <a:spcPct val="35000"/>
            </a:spcAft>
            <a:buNone/>
          </a:pPr>
          <a:r>
            <a:rPr lang="en-US" sz="5200" b="0" i="0" kern="1200"/>
            <a:t>and T= time period.</a:t>
          </a:r>
          <a:endParaRPr lang="en-US" sz="5200" kern="1200"/>
        </a:p>
      </dsp:txBody>
      <dsp:txXfrm>
        <a:off x="60884" y="4285088"/>
        <a:ext cx="6141872" cy="112545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B2699-B124-43DC-8BD7-E4C101284DD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F4A1CA94-21E2-4E36-966E-C717B1E9E7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7822DA75-D405-465E-BDBC-22A7CB9786A9}"/>
              </a:ext>
            </a:extLst>
          </p:cNvPr>
          <p:cNvSpPr>
            <a:spLocks noGrp="1"/>
          </p:cNvSpPr>
          <p:nvPr>
            <p:ph type="dt" sz="half" idx="10"/>
          </p:nvPr>
        </p:nvSpPr>
        <p:spPr/>
        <p:txBody>
          <a:bodyPr/>
          <a:lstStyle/>
          <a:p>
            <a:fld id="{0DFC4E4F-49B4-4C3A-B7DE-8030045E4480}" type="datetimeFigureOut">
              <a:rPr lang="en-GB" smtClean="0"/>
              <a:t>09/07/2021</a:t>
            </a:fld>
            <a:endParaRPr lang="en-GB"/>
          </a:p>
        </p:txBody>
      </p:sp>
      <p:sp>
        <p:nvSpPr>
          <p:cNvPr id="5" name="Footer Placeholder 4">
            <a:extLst>
              <a:ext uri="{FF2B5EF4-FFF2-40B4-BE49-F238E27FC236}">
                <a16:creationId xmlns:a16="http://schemas.microsoft.com/office/drawing/2014/main" id="{B74F43AD-CA3B-4A62-851E-A9D7072EE2F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8802B3A-A689-4AD2-BEEF-35F5DAD83333}"/>
              </a:ext>
            </a:extLst>
          </p:cNvPr>
          <p:cNvSpPr>
            <a:spLocks noGrp="1"/>
          </p:cNvSpPr>
          <p:nvPr>
            <p:ph type="sldNum" sz="quarter" idx="12"/>
          </p:nvPr>
        </p:nvSpPr>
        <p:spPr/>
        <p:txBody>
          <a:bodyPr/>
          <a:lstStyle/>
          <a:p>
            <a:fld id="{DA81958B-1BD5-4E4D-9B1F-0946CCF679E9}" type="slidenum">
              <a:rPr lang="en-GB" smtClean="0"/>
              <a:t>‹#›</a:t>
            </a:fld>
            <a:endParaRPr lang="en-GB"/>
          </a:p>
        </p:txBody>
      </p:sp>
    </p:spTree>
    <p:extLst>
      <p:ext uri="{BB962C8B-B14F-4D97-AF65-F5344CB8AC3E}">
        <p14:creationId xmlns:p14="http://schemas.microsoft.com/office/powerpoint/2010/main" val="839771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0363C-E07F-4F08-87AB-AA1A7CB06EB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F3B3C4A-051C-4969-8A13-73F1D83613A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CF2CB7E-C241-4CF8-8CE7-66CE4F1D654B}"/>
              </a:ext>
            </a:extLst>
          </p:cNvPr>
          <p:cNvSpPr>
            <a:spLocks noGrp="1"/>
          </p:cNvSpPr>
          <p:nvPr>
            <p:ph type="dt" sz="half" idx="10"/>
          </p:nvPr>
        </p:nvSpPr>
        <p:spPr/>
        <p:txBody>
          <a:bodyPr/>
          <a:lstStyle/>
          <a:p>
            <a:fld id="{0DFC4E4F-49B4-4C3A-B7DE-8030045E4480}" type="datetimeFigureOut">
              <a:rPr lang="en-GB" smtClean="0"/>
              <a:t>09/07/2021</a:t>
            </a:fld>
            <a:endParaRPr lang="en-GB"/>
          </a:p>
        </p:txBody>
      </p:sp>
      <p:sp>
        <p:nvSpPr>
          <p:cNvPr id="5" name="Footer Placeholder 4">
            <a:extLst>
              <a:ext uri="{FF2B5EF4-FFF2-40B4-BE49-F238E27FC236}">
                <a16:creationId xmlns:a16="http://schemas.microsoft.com/office/drawing/2014/main" id="{AF7D34A3-D070-405D-B22E-1B15001C28C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D911BCC-537D-4804-9C43-C98E4D2D6F76}"/>
              </a:ext>
            </a:extLst>
          </p:cNvPr>
          <p:cNvSpPr>
            <a:spLocks noGrp="1"/>
          </p:cNvSpPr>
          <p:nvPr>
            <p:ph type="sldNum" sz="quarter" idx="12"/>
          </p:nvPr>
        </p:nvSpPr>
        <p:spPr/>
        <p:txBody>
          <a:bodyPr/>
          <a:lstStyle/>
          <a:p>
            <a:fld id="{DA81958B-1BD5-4E4D-9B1F-0946CCF679E9}" type="slidenum">
              <a:rPr lang="en-GB" smtClean="0"/>
              <a:t>‹#›</a:t>
            </a:fld>
            <a:endParaRPr lang="en-GB"/>
          </a:p>
        </p:txBody>
      </p:sp>
    </p:spTree>
    <p:extLst>
      <p:ext uri="{BB962C8B-B14F-4D97-AF65-F5344CB8AC3E}">
        <p14:creationId xmlns:p14="http://schemas.microsoft.com/office/powerpoint/2010/main" val="11083863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D0935-A787-46FE-A442-9B3B271F21B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8C63520-C7AF-4149-90B2-53D1C05D9F6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C8DDAB-DCAD-41B7-B8BB-17BF8B8A1871}"/>
              </a:ext>
            </a:extLst>
          </p:cNvPr>
          <p:cNvSpPr>
            <a:spLocks noGrp="1"/>
          </p:cNvSpPr>
          <p:nvPr>
            <p:ph type="dt" sz="half" idx="10"/>
          </p:nvPr>
        </p:nvSpPr>
        <p:spPr/>
        <p:txBody>
          <a:bodyPr/>
          <a:lstStyle/>
          <a:p>
            <a:fld id="{0DFC4E4F-49B4-4C3A-B7DE-8030045E4480}" type="datetimeFigureOut">
              <a:rPr lang="en-GB" smtClean="0"/>
              <a:t>09/07/2021</a:t>
            </a:fld>
            <a:endParaRPr lang="en-GB"/>
          </a:p>
        </p:txBody>
      </p:sp>
      <p:sp>
        <p:nvSpPr>
          <p:cNvPr id="5" name="Footer Placeholder 4">
            <a:extLst>
              <a:ext uri="{FF2B5EF4-FFF2-40B4-BE49-F238E27FC236}">
                <a16:creationId xmlns:a16="http://schemas.microsoft.com/office/drawing/2014/main" id="{CB950F6B-E29D-4070-9055-A85D070DAE1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8A1AC7D-8B49-435C-B870-DE19898BEFF8}"/>
              </a:ext>
            </a:extLst>
          </p:cNvPr>
          <p:cNvSpPr>
            <a:spLocks noGrp="1"/>
          </p:cNvSpPr>
          <p:nvPr>
            <p:ph type="sldNum" sz="quarter" idx="12"/>
          </p:nvPr>
        </p:nvSpPr>
        <p:spPr/>
        <p:txBody>
          <a:bodyPr/>
          <a:lstStyle/>
          <a:p>
            <a:fld id="{DA81958B-1BD5-4E4D-9B1F-0946CCF679E9}" type="slidenum">
              <a:rPr lang="en-GB" smtClean="0"/>
              <a:t>‹#›</a:t>
            </a:fld>
            <a:endParaRPr lang="en-GB"/>
          </a:p>
        </p:txBody>
      </p:sp>
    </p:spTree>
    <p:extLst>
      <p:ext uri="{BB962C8B-B14F-4D97-AF65-F5344CB8AC3E}">
        <p14:creationId xmlns:p14="http://schemas.microsoft.com/office/powerpoint/2010/main" val="31569520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3797C-A69F-48E4-ADA4-CE6D434452F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ABCA80E-79CE-4EED-923E-190F2F5EC4E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B553260-82AA-4512-9537-F702593BDBD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1AB4FB55-7235-4AAC-9385-1560B2D3F348}"/>
              </a:ext>
            </a:extLst>
          </p:cNvPr>
          <p:cNvSpPr>
            <a:spLocks noGrp="1"/>
          </p:cNvSpPr>
          <p:nvPr>
            <p:ph type="dt" sz="half" idx="10"/>
          </p:nvPr>
        </p:nvSpPr>
        <p:spPr/>
        <p:txBody>
          <a:bodyPr/>
          <a:lstStyle/>
          <a:p>
            <a:fld id="{0DFC4E4F-49B4-4C3A-B7DE-8030045E4480}" type="datetimeFigureOut">
              <a:rPr lang="en-GB" smtClean="0"/>
              <a:t>09/07/2021</a:t>
            </a:fld>
            <a:endParaRPr lang="en-GB"/>
          </a:p>
        </p:txBody>
      </p:sp>
      <p:sp>
        <p:nvSpPr>
          <p:cNvPr id="6" name="Footer Placeholder 5">
            <a:extLst>
              <a:ext uri="{FF2B5EF4-FFF2-40B4-BE49-F238E27FC236}">
                <a16:creationId xmlns:a16="http://schemas.microsoft.com/office/drawing/2014/main" id="{17C01D9E-43E2-4093-8761-9D65EF19E2D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FC37997-592F-405E-94D0-C6249AC12CFF}"/>
              </a:ext>
            </a:extLst>
          </p:cNvPr>
          <p:cNvSpPr>
            <a:spLocks noGrp="1"/>
          </p:cNvSpPr>
          <p:nvPr>
            <p:ph type="sldNum" sz="quarter" idx="12"/>
          </p:nvPr>
        </p:nvSpPr>
        <p:spPr/>
        <p:txBody>
          <a:bodyPr/>
          <a:lstStyle/>
          <a:p>
            <a:fld id="{DA81958B-1BD5-4E4D-9B1F-0946CCF679E9}" type="slidenum">
              <a:rPr lang="en-GB" smtClean="0"/>
              <a:t>‹#›</a:t>
            </a:fld>
            <a:endParaRPr lang="en-GB"/>
          </a:p>
        </p:txBody>
      </p:sp>
    </p:spTree>
    <p:extLst>
      <p:ext uri="{BB962C8B-B14F-4D97-AF65-F5344CB8AC3E}">
        <p14:creationId xmlns:p14="http://schemas.microsoft.com/office/powerpoint/2010/main" val="3856598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760A9-408D-474C-9A87-537C492FC675}"/>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80BE368-D20A-40BE-9D72-2198C26A9B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B398555-9E80-42B1-8193-5526F40F7B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D761FDB5-D327-46B3-A0A5-1DDD7EAC097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930976-1A42-408C-B67A-89D8922261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788A3FCE-BE30-46C0-B674-54D14E80B9F0}"/>
              </a:ext>
            </a:extLst>
          </p:cNvPr>
          <p:cNvSpPr>
            <a:spLocks noGrp="1"/>
          </p:cNvSpPr>
          <p:nvPr>
            <p:ph type="dt" sz="half" idx="10"/>
          </p:nvPr>
        </p:nvSpPr>
        <p:spPr/>
        <p:txBody>
          <a:bodyPr/>
          <a:lstStyle/>
          <a:p>
            <a:fld id="{0DFC4E4F-49B4-4C3A-B7DE-8030045E4480}" type="datetimeFigureOut">
              <a:rPr lang="en-GB" smtClean="0"/>
              <a:t>09/07/2021</a:t>
            </a:fld>
            <a:endParaRPr lang="en-GB"/>
          </a:p>
        </p:txBody>
      </p:sp>
      <p:sp>
        <p:nvSpPr>
          <p:cNvPr id="8" name="Footer Placeholder 7">
            <a:extLst>
              <a:ext uri="{FF2B5EF4-FFF2-40B4-BE49-F238E27FC236}">
                <a16:creationId xmlns:a16="http://schemas.microsoft.com/office/drawing/2014/main" id="{0AA6176F-F87A-4F85-AB13-1CDB314A9ABF}"/>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DDF95C74-A7A0-4369-9ABE-FB9EF88284D4}"/>
              </a:ext>
            </a:extLst>
          </p:cNvPr>
          <p:cNvSpPr>
            <a:spLocks noGrp="1"/>
          </p:cNvSpPr>
          <p:nvPr>
            <p:ph type="sldNum" sz="quarter" idx="12"/>
          </p:nvPr>
        </p:nvSpPr>
        <p:spPr/>
        <p:txBody>
          <a:bodyPr/>
          <a:lstStyle/>
          <a:p>
            <a:fld id="{DA81958B-1BD5-4E4D-9B1F-0946CCF679E9}" type="slidenum">
              <a:rPr lang="en-GB" smtClean="0"/>
              <a:t>‹#›</a:t>
            </a:fld>
            <a:endParaRPr lang="en-GB"/>
          </a:p>
        </p:txBody>
      </p:sp>
    </p:spTree>
    <p:extLst>
      <p:ext uri="{BB962C8B-B14F-4D97-AF65-F5344CB8AC3E}">
        <p14:creationId xmlns:p14="http://schemas.microsoft.com/office/powerpoint/2010/main" val="3768090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C0166-8D48-480C-8BB2-4D42843487E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784AC6A3-298F-4764-89F7-A2B42BFFA193}"/>
              </a:ext>
            </a:extLst>
          </p:cNvPr>
          <p:cNvSpPr>
            <a:spLocks noGrp="1"/>
          </p:cNvSpPr>
          <p:nvPr>
            <p:ph type="dt" sz="half" idx="10"/>
          </p:nvPr>
        </p:nvSpPr>
        <p:spPr/>
        <p:txBody>
          <a:bodyPr/>
          <a:lstStyle/>
          <a:p>
            <a:fld id="{0DFC4E4F-49B4-4C3A-B7DE-8030045E4480}" type="datetimeFigureOut">
              <a:rPr lang="en-GB" smtClean="0"/>
              <a:t>09/07/2021</a:t>
            </a:fld>
            <a:endParaRPr lang="en-GB"/>
          </a:p>
        </p:txBody>
      </p:sp>
      <p:sp>
        <p:nvSpPr>
          <p:cNvPr id="4" name="Footer Placeholder 3">
            <a:extLst>
              <a:ext uri="{FF2B5EF4-FFF2-40B4-BE49-F238E27FC236}">
                <a16:creationId xmlns:a16="http://schemas.microsoft.com/office/drawing/2014/main" id="{1C2045B6-C27F-4BDB-BB35-AA1680D1EF7B}"/>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A6D1EEC4-C68A-4CC8-82AB-EDD1FF5B815C}"/>
              </a:ext>
            </a:extLst>
          </p:cNvPr>
          <p:cNvSpPr>
            <a:spLocks noGrp="1"/>
          </p:cNvSpPr>
          <p:nvPr>
            <p:ph type="sldNum" sz="quarter" idx="12"/>
          </p:nvPr>
        </p:nvSpPr>
        <p:spPr/>
        <p:txBody>
          <a:bodyPr/>
          <a:lstStyle/>
          <a:p>
            <a:fld id="{DA81958B-1BD5-4E4D-9B1F-0946CCF679E9}" type="slidenum">
              <a:rPr lang="en-GB" smtClean="0"/>
              <a:t>‹#›</a:t>
            </a:fld>
            <a:endParaRPr lang="en-GB"/>
          </a:p>
        </p:txBody>
      </p:sp>
    </p:spTree>
    <p:extLst>
      <p:ext uri="{BB962C8B-B14F-4D97-AF65-F5344CB8AC3E}">
        <p14:creationId xmlns:p14="http://schemas.microsoft.com/office/powerpoint/2010/main" val="36926252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815834-A609-4477-AED4-3F744577FA1C}"/>
              </a:ext>
            </a:extLst>
          </p:cNvPr>
          <p:cNvSpPr>
            <a:spLocks noGrp="1"/>
          </p:cNvSpPr>
          <p:nvPr>
            <p:ph type="dt" sz="half" idx="10"/>
          </p:nvPr>
        </p:nvSpPr>
        <p:spPr/>
        <p:txBody>
          <a:bodyPr/>
          <a:lstStyle/>
          <a:p>
            <a:fld id="{0DFC4E4F-49B4-4C3A-B7DE-8030045E4480}" type="datetimeFigureOut">
              <a:rPr lang="en-GB" smtClean="0"/>
              <a:t>09/07/2021</a:t>
            </a:fld>
            <a:endParaRPr lang="en-GB"/>
          </a:p>
        </p:txBody>
      </p:sp>
      <p:sp>
        <p:nvSpPr>
          <p:cNvPr id="3" name="Footer Placeholder 2">
            <a:extLst>
              <a:ext uri="{FF2B5EF4-FFF2-40B4-BE49-F238E27FC236}">
                <a16:creationId xmlns:a16="http://schemas.microsoft.com/office/drawing/2014/main" id="{B2E79679-C054-4A78-9A68-61BD6B0F7278}"/>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F169D9BB-6A63-4D9B-B8AC-86B1FD66E288}"/>
              </a:ext>
            </a:extLst>
          </p:cNvPr>
          <p:cNvSpPr>
            <a:spLocks noGrp="1"/>
          </p:cNvSpPr>
          <p:nvPr>
            <p:ph type="sldNum" sz="quarter" idx="12"/>
          </p:nvPr>
        </p:nvSpPr>
        <p:spPr/>
        <p:txBody>
          <a:bodyPr/>
          <a:lstStyle/>
          <a:p>
            <a:fld id="{DA81958B-1BD5-4E4D-9B1F-0946CCF679E9}" type="slidenum">
              <a:rPr lang="en-GB" smtClean="0"/>
              <a:t>‹#›</a:t>
            </a:fld>
            <a:endParaRPr lang="en-GB"/>
          </a:p>
        </p:txBody>
      </p:sp>
    </p:spTree>
    <p:extLst>
      <p:ext uri="{BB962C8B-B14F-4D97-AF65-F5344CB8AC3E}">
        <p14:creationId xmlns:p14="http://schemas.microsoft.com/office/powerpoint/2010/main" val="941405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74259-BCD5-4AA1-8B63-7723BF4F4B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506945C-58A2-46AB-BAA0-771C4F29E36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79877067-8FA8-4E7B-9C07-9F79497AA1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F8083A-A80A-4494-8509-F11D55299444}"/>
              </a:ext>
            </a:extLst>
          </p:cNvPr>
          <p:cNvSpPr>
            <a:spLocks noGrp="1"/>
          </p:cNvSpPr>
          <p:nvPr>
            <p:ph type="dt" sz="half" idx="10"/>
          </p:nvPr>
        </p:nvSpPr>
        <p:spPr/>
        <p:txBody>
          <a:bodyPr/>
          <a:lstStyle/>
          <a:p>
            <a:fld id="{0DFC4E4F-49B4-4C3A-B7DE-8030045E4480}" type="datetimeFigureOut">
              <a:rPr lang="en-GB" smtClean="0"/>
              <a:t>09/07/2021</a:t>
            </a:fld>
            <a:endParaRPr lang="en-GB"/>
          </a:p>
        </p:txBody>
      </p:sp>
      <p:sp>
        <p:nvSpPr>
          <p:cNvPr id="6" name="Footer Placeholder 5">
            <a:extLst>
              <a:ext uri="{FF2B5EF4-FFF2-40B4-BE49-F238E27FC236}">
                <a16:creationId xmlns:a16="http://schemas.microsoft.com/office/drawing/2014/main" id="{7126E4D5-8551-4F8C-A730-0D0B737915F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7BFE903-FAF3-45AE-8B59-B32917034116}"/>
              </a:ext>
            </a:extLst>
          </p:cNvPr>
          <p:cNvSpPr>
            <a:spLocks noGrp="1"/>
          </p:cNvSpPr>
          <p:nvPr>
            <p:ph type="sldNum" sz="quarter" idx="12"/>
          </p:nvPr>
        </p:nvSpPr>
        <p:spPr/>
        <p:txBody>
          <a:bodyPr/>
          <a:lstStyle/>
          <a:p>
            <a:fld id="{DA81958B-1BD5-4E4D-9B1F-0946CCF679E9}" type="slidenum">
              <a:rPr lang="en-GB" smtClean="0"/>
              <a:t>‹#›</a:t>
            </a:fld>
            <a:endParaRPr lang="en-GB"/>
          </a:p>
        </p:txBody>
      </p:sp>
    </p:spTree>
    <p:extLst>
      <p:ext uri="{BB962C8B-B14F-4D97-AF65-F5344CB8AC3E}">
        <p14:creationId xmlns:p14="http://schemas.microsoft.com/office/powerpoint/2010/main" val="3015378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D74AA-8A85-43C4-B1B7-23A22B0E1C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482A6A8D-8CC0-4169-B379-75589A7FA4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E9328AE9-F0D8-4275-AF02-1971F4AE9C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56ED03-EB86-4A05-BA97-6DC387CCC183}"/>
              </a:ext>
            </a:extLst>
          </p:cNvPr>
          <p:cNvSpPr>
            <a:spLocks noGrp="1"/>
          </p:cNvSpPr>
          <p:nvPr>
            <p:ph type="dt" sz="half" idx="10"/>
          </p:nvPr>
        </p:nvSpPr>
        <p:spPr/>
        <p:txBody>
          <a:bodyPr/>
          <a:lstStyle/>
          <a:p>
            <a:fld id="{0DFC4E4F-49B4-4C3A-B7DE-8030045E4480}" type="datetimeFigureOut">
              <a:rPr lang="en-GB" smtClean="0"/>
              <a:t>09/07/2021</a:t>
            </a:fld>
            <a:endParaRPr lang="en-GB"/>
          </a:p>
        </p:txBody>
      </p:sp>
      <p:sp>
        <p:nvSpPr>
          <p:cNvPr id="6" name="Footer Placeholder 5">
            <a:extLst>
              <a:ext uri="{FF2B5EF4-FFF2-40B4-BE49-F238E27FC236}">
                <a16:creationId xmlns:a16="http://schemas.microsoft.com/office/drawing/2014/main" id="{934FDFEC-2FC8-4279-9C1E-A63169F36C2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452F958-97A7-4FB6-9958-CC72C4E9F24D}"/>
              </a:ext>
            </a:extLst>
          </p:cNvPr>
          <p:cNvSpPr>
            <a:spLocks noGrp="1"/>
          </p:cNvSpPr>
          <p:nvPr>
            <p:ph type="sldNum" sz="quarter" idx="12"/>
          </p:nvPr>
        </p:nvSpPr>
        <p:spPr/>
        <p:txBody>
          <a:bodyPr/>
          <a:lstStyle/>
          <a:p>
            <a:fld id="{DA81958B-1BD5-4E4D-9B1F-0946CCF679E9}" type="slidenum">
              <a:rPr lang="en-GB" smtClean="0"/>
              <a:t>‹#›</a:t>
            </a:fld>
            <a:endParaRPr lang="en-GB"/>
          </a:p>
        </p:txBody>
      </p:sp>
    </p:spTree>
    <p:extLst>
      <p:ext uri="{BB962C8B-B14F-4D97-AF65-F5344CB8AC3E}">
        <p14:creationId xmlns:p14="http://schemas.microsoft.com/office/powerpoint/2010/main" val="3368663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D4029-6A9B-4A1F-AFF2-B13D443ECF35}"/>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B184F8C-8BDB-4175-8CC0-5FDB2EB00AF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6106DA8-F880-40F1-8092-181138FD7DE9}"/>
              </a:ext>
            </a:extLst>
          </p:cNvPr>
          <p:cNvSpPr>
            <a:spLocks noGrp="1"/>
          </p:cNvSpPr>
          <p:nvPr>
            <p:ph type="dt" sz="half" idx="10"/>
          </p:nvPr>
        </p:nvSpPr>
        <p:spPr/>
        <p:txBody>
          <a:bodyPr/>
          <a:lstStyle/>
          <a:p>
            <a:fld id="{0DFC4E4F-49B4-4C3A-B7DE-8030045E4480}" type="datetimeFigureOut">
              <a:rPr lang="en-GB" smtClean="0"/>
              <a:t>09/07/2021</a:t>
            </a:fld>
            <a:endParaRPr lang="en-GB"/>
          </a:p>
        </p:txBody>
      </p:sp>
      <p:sp>
        <p:nvSpPr>
          <p:cNvPr id="5" name="Footer Placeholder 4">
            <a:extLst>
              <a:ext uri="{FF2B5EF4-FFF2-40B4-BE49-F238E27FC236}">
                <a16:creationId xmlns:a16="http://schemas.microsoft.com/office/drawing/2014/main" id="{2F3801E5-6941-467C-AAA4-FA40537E82A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2307A6D-9EE0-417E-B540-42BC79660A47}"/>
              </a:ext>
            </a:extLst>
          </p:cNvPr>
          <p:cNvSpPr>
            <a:spLocks noGrp="1"/>
          </p:cNvSpPr>
          <p:nvPr>
            <p:ph type="sldNum" sz="quarter" idx="12"/>
          </p:nvPr>
        </p:nvSpPr>
        <p:spPr/>
        <p:txBody>
          <a:bodyPr/>
          <a:lstStyle/>
          <a:p>
            <a:fld id="{DA81958B-1BD5-4E4D-9B1F-0946CCF679E9}" type="slidenum">
              <a:rPr lang="en-GB" smtClean="0"/>
              <a:t>‹#›</a:t>
            </a:fld>
            <a:endParaRPr lang="en-GB"/>
          </a:p>
        </p:txBody>
      </p:sp>
    </p:spTree>
    <p:extLst>
      <p:ext uri="{BB962C8B-B14F-4D97-AF65-F5344CB8AC3E}">
        <p14:creationId xmlns:p14="http://schemas.microsoft.com/office/powerpoint/2010/main" val="30709931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826F101-4E7D-4610-915A-4E832DC1087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CCACB3F-792D-4EE2-8CC6-4B559E4D1EA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B9B7147-1B93-47B7-AA9F-DC41341A9B1C}"/>
              </a:ext>
            </a:extLst>
          </p:cNvPr>
          <p:cNvSpPr>
            <a:spLocks noGrp="1"/>
          </p:cNvSpPr>
          <p:nvPr>
            <p:ph type="dt" sz="half" idx="10"/>
          </p:nvPr>
        </p:nvSpPr>
        <p:spPr/>
        <p:txBody>
          <a:bodyPr/>
          <a:lstStyle/>
          <a:p>
            <a:fld id="{0DFC4E4F-49B4-4C3A-B7DE-8030045E4480}" type="datetimeFigureOut">
              <a:rPr lang="en-GB" smtClean="0"/>
              <a:t>09/07/2021</a:t>
            </a:fld>
            <a:endParaRPr lang="en-GB"/>
          </a:p>
        </p:txBody>
      </p:sp>
      <p:sp>
        <p:nvSpPr>
          <p:cNvPr id="5" name="Footer Placeholder 4">
            <a:extLst>
              <a:ext uri="{FF2B5EF4-FFF2-40B4-BE49-F238E27FC236}">
                <a16:creationId xmlns:a16="http://schemas.microsoft.com/office/drawing/2014/main" id="{91B570CA-CE0B-445B-A6E4-2ECDBB14606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B1960B0-3FCB-40A7-9AAC-1709D2BC1EA2}"/>
              </a:ext>
            </a:extLst>
          </p:cNvPr>
          <p:cNvSpPr>
            <a:spLocks noGrp="1"/>
          </p:cNvSpPr>
          <p:nvPr>
            <p:ph type="sldNum" sz="quarter" idx="12"/>
          </p:nvPr>
        </p:nvSpPr>
        <p:spPr/>
        <p:txBody>
          <a:bodyPr/>
          <a:lstStyle/>
          <a:p>
            <a:fld id="{DA81958B-1BD5-4E4D-9B1F-0946CCF679E9}" type="slidenum">
              <a:rPr lang="en-GB" smtClean="0"/>
              <a:t>‹#›</a:t>
            </a:fld>
            <a:endParaRPr lang="en-GB"/>
          </a:p>
        </p:txBody>
      </p:sp>
    </p:spTree>
    <p:extLst>
      <p:ext uri="{BB962C8B-B14F-4D97-AF65-F5344CB8AC3E}">
        <p14:creationId xmlns:p14="http://schemas.microsoft.com/office/powerpoint/2010/main" val="3961663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C58372-ABAA-407E-906D-2CEA93D1D1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6608475-23BF-43AB-B4EF-107004D208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7CB262D-7919-4D0B-95B0-3BCE5515F7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FC4E4F-49B4-4C3A-B7DE-8030045E4480}" type="datetimeFigureOut">
              <a:rPr lang="en-GB" smtClean="0"/>
              <a:t>09/07/2021</a:t>
            </a:fld>
            <a:endParaRPr lang="en-GB"/>
          </a:p>
        </p:txBody>
      </p:sp>
      <p:sp>
        <p:nvSpPr>
          <p:cNvPr id="5" name="Footer Placeholder 4">
            <a:extLst>
              <a:ext uri="{FF2B5EF4-FFF2-40B4-BE49-F238E27FC236}">
                <a16:creationId xmlns:a16="http://schemas.microsoft.com/office/drawing/2014/main" id="{7B256D78-EA18-489A-89F4-080CA5B3CA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9AF78784-DB50-4835-A272-67D926C9938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81958B-1BD5-4E4D-9B1F-0946CCF679E9}" type="slidenum">
              <a:rPr lang="en-GB" smtClean="0"/>
              <a:t>‹#›</a:t>
            </a:fld>
            <a:endParaRPr lang="en-GB"/>
          </a:p>
        </p:txBody>
      </p:sp>
    </p:spTree>
    <p:extLst>
      <p:ext uri="{BB962C8B-B14F-4D97-AF65-F5344CB8AC3E}">
        <p14:creationId xmlns:p14="http://schemas.microsoft.com/office/powerpoint/2010/main" val="6789802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corporatefinanceinstitute.com/resources/knowledge/credit/amortizing-loan/" TargetMode="External"/><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3" Type="http://schemas.openxmlformats.org/officeDocument/2006/relationships/hyperlink" Target="https://fred.stlouisfed.org/series/DFF" TargetMode="External"/><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investopedia.com/terms/c/compounding.asp" TargetMode="External"/><Relationship Id="rId2" Type="http://schemas.openxmlformats.org/officeDocument/2006/relationships/hyperlink" Target="https://www.investopedia.com/terms/s/simple_interest.asp"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548AD-CD24-4E81-9A50-8ABD125D1007}"/>
              </a:ext>
            </a:extLst>
          </p:cNvPr>
          <p:cNvSpPr>
            <a:spLocks noGrp="1"/>
          </p:cNvSpPr>
          <p:nvPr>
            <p:ph type="ctrTitle"/>
          </p:nvPr>
        </p:nvSpPr>
        <p:spPr>
          <a:xfrm>
            <a:off x="7464614" y="1783959"/>
            <a:ext cx="4087306" cy="2889114"/>
          </a:xfrm>
        </p:spPr>
        <p:txBody>
          <a:bodyPr anchor="b">
            <a:normAutofit/>
          </a:bodyPr>
          <a:lstStyle/>
          <a:p>
            <a:pPr algn="l"/>
            <a:r>
              <a:rPr lang="en-US" sz="4600" b="1">
                <a:latin typeface="Open Sans" panose="020B0606030504020204" pitchFamily="34" charset="0"/>
              </a:rPr>
              <a:t>A</a:t>
            </a:r>
            <a:r>
              <a:rPr lang="en-US" sz="4600" b="1" i="0">
                <a:effectLst/>
                <a:latin typeface="Open Sans" panose="020B0606030504020204" pitchFamily="34" charset="0"/>
              </a:rPr>
              <a:t>mortization schedule</a:t>
            </a:r>
            <a:endParaRPr lang="en-GB" sz="4600"/>
          </a:p>
        </p:txBody>
      </p:sp>
      <p:sp>
        <p:nvSpPr>
          <p:cNvPr id="3" name="Subtitle 2">
            <a:extLst>
              <a:ext uri="{FF2B5EF4-FFF2-40B4-BE49-F238E27FC236}">
                <a16:creationId xmlns:a16="http://schemas.microsoft.com/office/drawing/2014/main" id="{CFBB0656-5F41-4996-B8D6-265E498CAD0F}"/>
              </a:ext>
            </a:extLst>
          </p:cNvPr>
          <p:cNvSpPr>
            <a:spLocks noGrp="1"/>
          </p:cNvSpPr>
          <p:nvPr>
            <p:ph type="subTitle" idx="1"/>
          </p:nvPr>
        </p:nvSpPr>
        <p:spPr>
          <a:xfrm>
            <a:off x="7464612" y="4750893"/>
            <a:ext cx="4087305" cy="1147863"/>
          </a:xfrm>
        </p:spPr>
        <p:txBody>
          <a:bodyPr anchor="t">
            <a:normAutofit/>
          </a:bodyPr>
          <a:lstStyle/>
          <a:p>
            <a:pPr algn="l"/>
            <a:r>
              <a:rPr lang="en-GB" sz="2000"/>
              <a:t>Dr. Ejaz Aslam</a:t>
            </a:r>
          </a:p>
        </p:txBody>
      </p:sp>
      <p:sp>
        <p:nvSpPr>
          <p:cNvPr id="9" name="Freeform: Shape 8">
            <a:extLst>
              <a:ext uri="{FF2B5EF4-FFF2-40B4-BE49-F238E27FC236}">
                <a16:creationId xmlns:a16="http://schemas.microsoft.com/office/drawing/2014/main" id="{E49CC64F-7275-4E33-961B-0C5CDC4398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0"/>
            <a:ext cx="7188051" cy="6858000"/>
          </a:xfrm>
          <a:custGeom>
            <a:avLst/>
            <a:gdLst>
              <a:gd name="connsiteX0" fmla="*/ 7188051 w 7188051"/>
              <a:gd name="connsiteY0" fmla="*/ 6858000 h 6858000"/>
              <a:gd name="connsiteX1" fmla="*/ 108694 w 7188051"/>
              <a:gd name="connsiteY1" fmla="*/ 6858000 h 6858000"/>
              <a:gd name="connsiteX2" fmla="*/ 79127 w 7188051"/>
              <a:gd name="connsiteY2" fmla="*/ 6681235 h 6858000"/>
              <a:gd name="connsiteX3" fmla="*/ 0 w 7188051"/>
              <a:gd name="connsiteY3" fmla="*/ 5565888 h 6858000"/>
              <a:gd name="connsiteX4" fmla="*/ 2190696 w 7188051"/>
              <a:gd name="connsiteY4" fmla="*/ 145339 h 6858000"/>
              <a:gd name="connsiteX5" fmla="*/ 2339431 w 7188051"/>
              <a:gd name="connsiteY5" fmla="*/ 0 h 6858000"/>
              <a:gd name="connsiteX6" fmla="*/ 7188051 w 7188051"/>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88051" h="6858000">
                <a:moveTo>
                  <a:pt x="7188051" y="6858000"/>
                </a:moveTo>
                <a:lnTo>
                  <a:pt x="108694" y="6858000"/>
                </a:lnTo>
                <a:lnTo>
                  <a:pt x="79127" y="6681235"/>
                </a:lnTo>
                <a:cubicBezTo>
                  <a:pt x="26981" y="6316967"/>
                  <a:pt x="0" y="5944579"/>
                  <a:pt x="0" y="5565888"/>
                </a:cubicBezTo>
                <a:cubicBezTo>
                  <a:pt x="0" y="3459953"/>
                  <a:pt x="834428" y="1548908"/>
                  <a:pt x="2190696" y="145339"/>
                </a:cubicBezTo>
                <a:lnTo>
                  <a:pt x="2339431" y="0"/>
                </a:lnTo>
                <a:lnTo>
                  <a:pt x="7188051" y="0"/>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Calendar on table">
            <a:extLst>
              <a:ext uri="{FF2B5EF4-FFF2-40B4-BE49-F238E27FC236}">
                <a16:creationId xmlns:a16="http://schemas.microsoft.com/office/drawing/2014/main" id="{80970C2E-5A36-4442-99B6-E722AA70A6DE}"/>
              </a:ext>
            </a:extLst>
          </p:cNvPr>
          <p:cNvPicPr>
            <a:picLocks noChangeAspect="1"/>
          </p:cNvPicPr>
          <p:nvPr/>
        </p:nvPicPr>
        <p:blipFill rotWithShape="1">
          <a:blip r:embed="rId2"/>
          <a:srcRect r="31589" b="-1"/>
          <a:stretch/>
        </p:blipFill>
        <p:spPr>
          <a:xfrm>
            <a:off x="-1933574" y="-352415"/>
            <a:ext cx="7028495"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p:spPr>
      </p:pic>
    </p:spTree>
    <p:extLst>
      <p:ext uri="{BB962C8B-B14F-4D97-AF65-F5344CB8AC3E}">
        <p14:creationId xmlns:p14="http://schemas.microsoft.com/office/powerpoint/2010/main" val="20975364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iterate>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00"/>
                                        <p:tgtEl>
                                          <p:spTgt spid="3">
                                            <p:txEl>
                                              <p:pRg st="0" end="0"/>
                                            </p:txEl>
                                          </p:spTgt>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pic>
        <p:nvPicPr>
          <p:cNvPr id="12" name="Picture 4" descr="Antique cash register keys">
            <a:extLst>
              <a:ext uri="{FF2B5EF4-FFF2-40B4-BE49-F238E27FC236}">
                <a16:creationId xmlns:a16="http://schemas.microsoft.com/office/drawing/2014/main" id="{87CF1575-C558-4927-A8B4-2C35ADBD3CB6}"/>
              </a:ext>
            </a:extLst>
          </p:cNvPr>
          <p:cNvPicPr>
            <a:picLocks noChangeAspect="1"/>
          </p:cNvPicPr>
          <p:nvPr/>
        </p:nvPicPr>
        <p:blipFill rotWithShape="1">
          <a:blip r:embed="rId2"/>
          <a:srcRect l="14333" r="17695"/>
          <a:stretch/>
        </p:blipFill>
        <p:spPr>
          <a:xfrm>
            <a:off x="20" y="10"/>
            <a:ext cx="7009876" cy="6857990"/>
          </a:xfrm>
          <a:custGeom>
            <a:avLst/>
            <a:gdLst/>
            <a:ahLst/>
            <a:cxnLst/>
            <a:rect l="l" t="t" r="r" b="b"/>
            <a:pathLst>
              <a:path w="7009896" h="6858000">
                <a:moveTo>
                  <a:pt x="0" y="0"/>
                </a:moveTo>
                <a:lnTo>
                  <a:pt x="7009896" y="0"/>
                </a:lnTo>
                <a:lnTo>
                  <a:pt x="7009896" y="1"/>
                </a:lnTo>
                <a:lnTo>
                  <a:pt x="6295211" y="1"/>
                </a:lnTo>
                <a:lnTo>
                  <a:pt x="6195255" y="380651"/>
                </a:lnTo>
                <a:cubicBezTo>
                  <a:pt x="5677600" y="2559611"/>
                  <a:pt x="5966601" y="4758249"/>
                  <a:pt x="6880029" y="6647018"/>
                </a:cubicBezTo>
                <a:lnTo>
                  <a:pt x="6988280" y="6858000"/>
                </a:lnTo>
                <a:lnTo>
                  <a:pt x="0" y="6858000"/>
                </a:lnTo>
                <a:close/>
              </a:path>
            </a:pathLst>
          </a:custGeom>
        </p:spPr>
      </p:pic>
      <p:sp>
        <p:nvSpPr>
          <p:cNvPr id="13" name="Freeform: Shape 8">
            <a:extLst>
              <a:ext uri="{FF2B5EF4-FFF2-40B4-BE49-F238E27FC236}">
                <a16:creationId xmlns:a16="http://schemas.microsoft.com/office/drawing/2014/main" id="{5FDF4720-5445-47BE-89FE-E40D1AE6F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711927" y="-1"/>
            <a:ext cx="6480073" cy="6858002"/>
          </a:xfrm>
          <a:custGeom>
            <a:avLst/>
            <a:gdLst>
              <a:gd name="connsiteX0" fmla="*/ 6130244 w 6480073"/>
              <a:gd name="connsiteY0" fmla="*/ 0 h 6858002"/>
              <a:gd name="connsiteX1" fmla="*/ 6212951 w 6480073"/>
              <a:gd name="connsiteY1" fmla="*/ 314584 h 6858002"/>
              <a:gd name="connsiteX2" fmla="*/ 5540779 w 6480073"/>
              <a:gd name="connsiteY2" fmla="*/ 6756649 h 6858002"/>
              <a:gd name="connsiteX3" fmla="*/ 5489971 w 6480073"/>
              <a:gd name="connsiteY3" fmla="*/ 6858002 h 6858002"/>
              <a:gd name="connsiteX4" fmla="*/ 0 w 6480073"/>
              <a:gd name="connsiteY4" fmla="*/ 6858002 h 6858002"/>
              <a:gd name="connsiteX5" fmla="*/ 0 w 6480073"/>
              <a:gd name="connsiteY5" fmla="*/ 0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80073" h="6858002">
                <a:moveTo>
                  <a:pt x="6130244" y="0"/>
                </a:moveTo>
                <a:lnTo>
                  <a:pt x="6212951" y="314584"/>
                </a:lnTo>
                <a:cubicBezTo>
                  <a:pt x="6745828" y="2551616"/>
                  <a:pt x="6460994" y="4808873"/>
                  <a:pt x="5540779" y="6756649"/>
                </a:cubicBezTo>
                <a:lnTo>
                  <a:pt x="5489971" y="6858002"/>
                </a:lnTo>
                <a:lnTo>
                  <a:pt x="0" y="6858002"/>
                </a:lnTo>
                <a:lnTo>
                  <a:pt x="0" y="0"/>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1" name="Freeform: Shape 10">
            <a:extLst>
              <a:ext uri="{FF2B5EF4-FFF2-40B4-BE49-F238E27FC236}">
                <a16:creationId xmlns:a16="http://schemas.microsoft.com/office/drawing/2014/main" id="{AC8710B4-A815-4082-9E4F-F13A000709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42784" y="0"/>
            <a:ext cx="6249216" cy="6858001"/>
          </a:xfrm>
          <a:custGeom>
            <a:avLst/>
            <a:gdLst>
              <a:gd name="connsiteX0" fmla="*/ 0 w 6249216"/>
              <a:gd name="connsiteY0" fmla="*/ 0 h 6858001"/>
              <a:gd name="connsiteX1" fmla="*/ 5893742 w 6249216"/>
              <a:gd name="connsiteY1" fmla="*/ 1 h 6858001"/>
              <a:gd name="connsiteX2" fmla="*/ 5993697 w 6249216"/>
              <a:gd name="connsiteY2" fmla="*/ 380651 h 6858001"/>
              <a:gd name="connsiteX3" fmla="*/ 5308924 w 6249216"/>
              <a:gd name="connsiteY3" fmla="*/ 6647018 h 6858001"/>
              <a:gd name="connsiteX4" fmla="*/ 5200672 w 6249216"/>
              <a:gd name="connsiteY4" fmla="*/ 6858001 h 6858001"/>
              <a:gd name="connsiteX5" fmla="*/ 1 w 6249216"/>
              <a:gd name="connsiteY5" fmla="*/ 685800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49216" h="6858001">
                <a:moveTo>
                  <a:pt x="0" y="0"/>
                </a:moveTo>
                <a:lnTo>
                  <a:pt x="5893742" y="1"/>
                </a:lnTo>
                <a:lnTo>
                  <a:pt x="5993697" y="380651"/>
                </a:lnTo>
                <a:cubicBezTo>
                  <a:pt x="6511353" y="2559611"/>
                  <a:pt x="6222352" y="4758249"/>
                  <a:pt x="5308924" y="6647018"/>
                </a:cubicBezTo>
                <a:lnTo>
                  <a:pt x="5200672" y="6858001"/>
                </a:lnTo>
                <a:lnTo>
                  <a:pt x="1" y="6858001"/>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74ED800-446C-4016-B583-2D585A7B7A04}"/>
              </a:ext>
            </a:extLst>
          </p:cNvPr>
          <p:cNvSpPr>
            <a:spLocks noGrp="1"/>
          </p:cNvSpPr>
          <p:nvPr>
            <p:ph type="title"/>
          </p:nvPr>
        </p:nvSpPr>
        <p:spPr>
          <a:xfrm>
            <a:off x="6801436" y="1396289"/>
            <a:ext cx="4819952" cy="1325563"/>
          </a:xfrm>
        </p:spPr>
        <p:txBody>
          <a:bodyPr>
            <a:normAutofit/>
          </a:bodyPr>
          <a:lstStyle/>
          <a:p>
            <a:r>
              <a:rPr lang="en-US" b="1">
                <a:latin typeface="Open Sans" panose="020B0606030504020204" pitchFamily="34" charset="0"/>
              </a:rPr>
              <a:t>A</a:t>
            </a:r>
            <a:r>
              <a:rPr lang="en-US" b="1" i="0">
                <a:effectLst/>
                <a:latin typeface="Open Sans" panose="020B0606030504020204" pitchFamily="34" charset="0"/>
              </a:rPr>
              <a:t>mortization schedule</a:t>
            </a:r>
            <a:endParaRPr lang="en-GB" b="1" dirty="0"/>
          </a:p>
        </p:txBody>
      </p:sp>
      <p:sp>
        <p:nvSpPr>
          <p:cNvPr id="3" name="Content Placeholder 2">
            <a:extLst>
              <a:ext uri="{FF2B5EF4-FFF2-40B4-BE49-F238E27FC236}">
                <a16:creationId xmlns:a16="http://schemas.microsoft.com/office/drawing/2014/main" id="{9B0FF68A-17F0-4978-A9B4-49C3D23B8647}"/>
              </a:ext>
            </a:extLst>
          </p:cNvPr>
          <p:cNvSpPr>
            <a:spLocks noGrp="1"/>
          </p:cNvSpPr>
          <p:nvPr>
            <p:ph idx="1"/>
          </p:nvPr>
        </p:nvSpPr>
        <p:spPr>
          <a:xfrm>
            <a:off x="6801435" y="2871982"/>
            <a:ext cx="4819951" cy="3181684"/>
          </a:xfrm>
        </p:spPr>
        <p:txBody>
          <a:bodyPr anchor="t">
            <a:normAutofit/>
          </a:bodyPr>
          <a:lstStyle/>
          <a:p>
            <a:pPr marL="0" indent="0">
              <a:buNone/>
            </a:pPr>
            <a:r>
              <a:rPr lang="en-US" sz="2400" b="0" i="0" dirty="0">
                <a:effectLst/>
                <a:latin typeface="Open Sans" panose="020B0606030504020204" pitchFamily="34" charset="0"/>
              </a:rPr>
              <a:t>An amortization schedule is a table that provides the details of the periodic payments for an </a:t>
            </a:r>
            <a:r>
              <a:rPr lang="en-US" sz="2400" b="0" i="0" u="none" strike="noStrike" dirty="0">
                <a:effectLst/>
                <a:latin typeface="Open Sans" panose="020B0606030504020204" pitchFamily="34" charset="0"/>
                <a:hlinkClick r:id="rId3"/>
              </a:rPr>
              <a:t>amortizing loan</a:t>
            </a:r>
            <a:r>
              <a:rPr lang="en-US" sz="2400" b="0" i="0" dirty="0">
                <a:effectLst/>
                <a:latin typeface="Open Sans" panose="020B0606030504020204" pitchFamily="34" charset="0"/>
              </a:rPr>
              <a:t>. The principal of an amortizing loan is paid down over the life of the loan. Typically, an equal amount of payment is made every period.</a:t>
            </a:r>
            <a:endParaRPr lang="en-GB" sz="2400" dirty="0"/>
          </a:p>
        </p:txBody>
      </p:sp>
    </p:spTree>
    <p:extLst>
      <p:ext uri="{BB962C8B-B14F-4D97-AF65-F5344CB8AC3E}">
        <p14:creationId xmlns:p14="http://schemas.microsoft.com/office/powerpoint/2010/main" val="3205021025"/>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819A166-7571-4003-A6B8-B62034C3E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0932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2E12B59-FBF4-4834-A049-FD6FEFA8EBE2}"/>
              </a:ext>
            </a:extLst>
          </p:cNvPr>
          <p:cNvSpPr>
            <a:spLocks noGrp="1"/>
          </p:cNvSpPr>
          <p:nvPr>
            <p:ph type="title"/>
          </p:nvPr>
        </p:nvSpPr>
        <p:spPr>
          <a:xfrm>
            <a:off x="524741" y="620392"/>
            <a:ext cx="3808268" cy="5504688"/>
          </a:xfrm>
        </p:spPr>
        <p:txBody>
          <a:bodyPr>
            <a:normAutofit/>
          </a:bodyPr>
          <a:lstStyle/>
          <a:p>
            <a:r>
              <a:rPr lang="en-US" sz="4200" b="1">
                <a:solidFill>
                  <a:schemeClr val="bg1"/>
                </a:solidFill>
                <a:latin typeface="Open Sans" panose="020B0606030504020204" pitchFamily="34" charset="0"/>
              </a:rPr>
              <a:t>A</a:t>
            </a:r>
            <a:r>
              <a:rPr lang="en-US" sz="4200" b="1" i="0">
                <a:solidFill>
                  <a:schemeClr val="bg1"/>
                </a:solidFill>
                <a:effectLst/>
                <a:latin typeface="Open Sans" panose="020B0606030504020204" pitchFamily="34" charset="0"/>
              </a:rPr>
              <a:t>mortization schedule</a:t>
            </a:r>
            <a:endParaRPr lang="en-GB" sz="4200">
              <a:solidFill>
                <a:schemeClr val="bg1"/>
              </a:solidFill>
            </a:endParaRPr>
          </a:p>
        </p:txBody>
      </p:sp>
      <p:graphicFrame>
        <p:nvGraphicFramePr>
          <p:cNvPr id="5" name="Content Placeholder 2">
            <a:extLst>
              <a:ext uri="{FF2B5EF4-FFF2-40B4-BE49-F238E27FC236}">
                <a16:creationId xmlns:a16="http://schemas.microsoft.com/office/drawing/2014/main" id="{861DA59D-556E-4FAC-B185-4EBB19FFE87A}"/>
              </a:ext>
            </a:extLst>
          </p:cNvPr>
          <p:cNvGraphicFramePr>
            <a:graphicFrameLocks noGrp="1"/>
          </p:cNvGraphicFramePr>
          <p:nvPr>
            <p:ph idx="1"/>
            <p:extLst>
              <p:ext uri="{D42A27DB-BD31-4B8C-83A1-F6EECF244321}">
                <p14:modId xmlns:p14="http://schemas.microsoft.com/office/powerpoint/2010/main" val="3031593366"/>
              </p:ext>
            </p:extLst>
          </p:nvPr>
        </p:nvGraphicFramePr>
        <p:xfrm>
          <a:off x="5468389" y="620392"/>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037958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819A166-7571-4003-A6B8-B62034C3E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0932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87B4B93-6A73-43E0-B842-92FDAE8DE9FC}"/>
              </a:ext>
            </a:extLst>
          </p:cNvPr>
          <p:cNvSpPr>
            <a:spLocks noGrp="1"/>
          </p:cNvSpPr>
          <p:nvPr>
            <p:ph type="title"/>
          </p:nvPr>
        </p:nvSpPr>
        <p:spPr>
          <a:xfrm>
            <a:off x="524741" y="620392"/>
            <a:ext cx="3808268" cy="5504688"/>
          </a:xfrm>
        </p:spPr>
        <p:txBody>
          <a:bodyPr>
            <a:normAutofit/>
          </a:bodyPr>
          <a:lstStyle/>
          <a:p>
            <a:r>
              <a:rPr lang="en-GB" sz="3800" b="1" i="0">
                <a:solidFill>
                  <a:schemeClr val="bg1"/>
                </a:solidFill>
                <a:effectLst/>
                <a:latin typeface="Open Sans" panose="020B0606030504020204" pitchFamily="34" charset="0"/>
              </a:rPr>
              <a:t>Understanding Amortization Schedules</a:t>
            </a:r>
            <a:endParaRPr lang="en-GB" sz="3800">
              <a:solidFill>
                <a:schemeClr val="bg1"/>
              </a:solidFill>
            </a:endParaRPr>
          </a:p>
        </p:txBody>
      </p:sp>
      <p:graphicFrame>
        <p:nvGraphicFramePr>
          <p:cNvPr id="12" name="Content Placeholder 2">
            <a:extLst>
              <a:ext uri="{FF2B5EF4-FFF2-40B4-BE49-F238E27FC236}">
                <a16:creationId xmlns:a16="http://schemas.microsoft.com/office/drawing/2014/main" id="{7979DD6F-EEEF-4C09-8756-818A198874D7}"/>
              </a:ext>
            </a:extLst>
          </p:cNvPr>
          <p:cNvGraphicFramePr>
            <a:graphicFrameLocks noGrp="1"/>
          </p:cNvGraphicFramePr>
          <p:nvPr>
            <p:ph idx="1"/>
            <p:extLst>
              <p:ext uri="{D42A27DB-BD31-4B8C-83A1-F6EECF244321}">
                <p14:modId xmlns:p14="http://schemas.microsoft.com/office/powerpoint/2010/main" val="2712404424"/>
              </p:ext>
            </p:extLst>
          </p:nvPr>
        </p:nvGraphicFramePr>
        <p:xfrm>
          <a:off x="5468389" y="620392"/>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992516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4CA79-68AC-43A0-8C39-452123D696EF}"/>
              </a:ext>
            </a:extLst>
          </p:cNvPr>
          <p:cNvSpPr>
            <a:spLocks noGrp="1"/>
          </p:cNvSpPr>
          <p:nvPr>
            <p:ph type="title"/>
          </p:nvPr>
        </p:nvSpPr>
        <p:spPr>
          <a:xfrm>
            <a:off x="6634134" y="1396289"/>
            <a:ext cx="5006336" cy="1325563"/>
          </a:xfrm>
        </p:spPr>
        <p:txBody>
          <a:bodyPr>
            <a:normAutofit/>
          </a:bodyPr>
          <a:lstStyle/>
          <a:p>
            <a:r>
              <a:rPr lang="en-GB" sz="3100" b="1" i="0">
                <a:effectLst/>
                <a:latin typeface="Open Sans" panose="020B0606030504020204" pitchFamily="34" charset="0"/>
              </a:rPr>
              <a:t>Example of Amortization Schedule</a:t>
            </a:r>
            <a:endParaRPr lang="en-GB" sz="3100"/>
          </a:p>
        </p:txBody>
      </p:sp>
      <p:sp>
        <p:nvSpPr>
          <p:cNvPr id="9" name="Freeform: Shape 8">
            <a:extLst>
              <a:ext uri="{FF2B5EF4-FFF2-40B4-BE49-F238E27FC236}">
                <a16:creationId xmlns:a16="http://schemas.microsoft.com/office/drawing/2014/main" id="{4F74D28C-3268-4E35-8EE1-D92CB4A85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6172782" cy="6858000"/>
          </a:xfrm>
          <a:custGeom>
            <a:avLst/>
            <a:gdLst>
              <a:gd name="connsiteX0" fmla="*/ 6172782 w 6172782"/>
              <a:gd name="connsiteY0" fmla="*/ 0 h 6858000"/>
              <a:gd name="connsiteX1" fmla="*/ 69075 w 6172782"/>
              <a:gd name="connsiteY1" fmla="*/ 0 h 6858000"/>
              <a:gd name="connsiteX2" fmla="*/ 35131 w 6172782"/>
              <a:gd name="connsiteY2" fmla="*/ 267128 h 6858000"/>
              <a:gd name="connsiteX3" fmla="*/ 0 w 6172782"/>
              <a:gd name="connsiteY3" fmla="*/ 962845 h 6858000"/>
              <a:gd name="connsiteX4" fmla="*/ 3276103 w 6172782"/>
              <a:gd name="connsiteY4" fmla="*/ 6782205 h 6858000"/>
              <a:gd name="connsiteX5" fmla="*/ 3407923 w 6172782"/>
              <a:gd name="connsiteY5" fmla="*/ 6858000 h 6858000"/>
              <a:gd name="connsiteX6" fmla="*/ 6172782 w 617278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72782" h="685800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descr="Stock exchange numbers">
            <a:extLst>
              <a:ext uri="{FF2B5EF4-FFF2-40B4-BE49-F238E27FC236}">
                <a16:creationId xmlns:a16="http://schemas.microsoft.com/office/drawing/2014/main" id="{7B3CB3F6-E943-4E7E-9D57-2A11084E6EDC}"/>
              </a:ext>
            </a:extLst>
          </p:cNvPr>
          <p:cNvPicPr>
            <a:picLocks noChangeAspect="1"/>
          </p:cNvPicPr>
          <p:nvPr/>
        </p:nvPicPr>
        <p:blipFill rotWithShape="1">
          <a:blip r:embed="rId2"/>
          <a:srcRect l="21423" r="19942" b="-1"/>
          <a:stretch/>
        </p:blipFill>
        <p:spPr>
          <a:xfrm>
            <a:off x="20" y="10"/>
            <a:ext cx="6024134" cy="6857990"/>
          </a:xfrm>
          <a:custGeom>
            <a:avLst/>
            <a:gdLst/>
            <a:ahLst/>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p:spPr>
      </p:pic>
      <p:sp>
        <p:nvSpPr>
          <p:cNvPr id="3" name="Content Placeholder 2">
            <a:extLst>
              <a:ext uri="{FF2B5EF4-FFF2-40B4-BE49-F238E27FC236}">
                <a16:creationId xmlns:a16="http://schemas.microsoft.com/office/drawing/2014/main" id="{02424033-D88E-49A9-83E0-842CE4CBBA15}"/>
              </a:ext>
            </a:extLst>
          </p:cNvPr>
          <p:cNvSpPr>
            <a:spLocks noGrp="1"/>
          </p:cNvSpPr>
          <p:nvPr>
            <p:ph idx="1"/>
          </p:nvPr>
        </p:nvSpPr>
        <p:spPr>
          <a:xfrm>
            <a:off x="6638578" y="2871982"/>
            <a:ext cx="5004073" cy="3181684"/>
          </a:xfrm>
        </p:spPr>
        <p:txBody>
          <a:bodyPr anchor="t">
            <a:normAutofit/>
          </a:bodyPr>
          <a:lstStyle/>
          <a:p>
            <a:pPr marL="0" indent="0">
              <a:buNone/>
            </a:pPr>
            <a:r>
              <a:rPr lang="en-US" sz="2400" b="0" i="0" dirty="0">
                <a:effectLst/>
                <a:latin typeface="Open Sans" panose="020B0606030504020204" pitchFamily="34" charset="0"/>
              </a:rPr>
              <a:t>Consider a $30,000 fully amortizing loan with a term of five years and a fixed rate of return 6%. Payments are made on a monthly basis. The following table shows the amortization schedule for the first and last six months.</a:t>
            </a:r>
            <a:endParaRPr lang="en-GB" sz="2400" dirty="0"/>
          </a:p>
        </p:txBody>
      </p:sp>
    </p:spTree>
    <p:extLst>
      <p:ext uri="{BB962C8B-B14F-4D97-AF65-F5344CB8AC3E}">
        <p14:creationId xmlns:p14="http://schemas.microsoft.com/office/powerpoint/2010/main" val="2293207215"/>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10;&#10;Description automatically generated">
            <a:extLst>
              <a:ext uri="{FF2B5EF4-FFF2-40B4-BE49-F238E27FC236}">
                <a16:creationId xmlns:a16="http://schemas.microsoft.com/office/drawing/2014/main" id="{1B7835C3-B213-440F-B847-28B7E1E7C5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0"/>
            <a:ext cx="12192000" cy="6858000"/>
          </a:xfrm>
          <a:prstGeom prst="rect">
            <a:avLst/>
          </a:prstGeom>
        </p:spPr>
      </p:pic>
    </p:spTree>
    <p:extLst>
      <p:ext uri="{BB962C8B-B14F-4D97-AF65-F5344CB8AC3E}">
        <p14:creationId xmlns:p14="http://schemas.microsoft.com/office/powerpoint/2010/main" val="18468563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line chart&#10;&#10;Description automatically generated">
            <a:extLst>
              <a:ext uri="{FF2B5EF4-FFF2-40B4-BE49-F238E27FC236}">
                <a16:creationId xmlns:a16="http://schemas.microsoft.com/office/drawing/2014/main" id="{5CBFA8B7-6A6B-4557-9DD9-5E1A404C0A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4640" y="180521"/>
            <a:ext cx="10950341" cy="6496957"/>
          </a:xfrm>
          <a:prstGeom prst="rect">
            <a:avLst/>
          </a:prstGeom>
        </p:spPr>
      </p:pic>
    </p:spTree>
    <p:extLst>
      <p:ext uri="{BB962C8B-B14F-4D97-AF65-F5344CB8AC3E}">
        <p14:creationId xmlns:p14="http://schemas.microsoft.com/office/powerpoint/2010/main" val="34741072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819A166-7571-4003-A6B8-B62034C3E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0932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27759BD-3348-4314-9A14-4DAC9B6C0BBF}"/>
              </a:ext>
            </a:extLst>
          </p:cNvPr>
          <p:cNvSpPr>
            <a:spLocks noGrp="1"/>
          </p:cNvSpPr>
          <p:nvPr>
            <p:ph type="title"/>
          </p:nvPr>
        </p:nvSpPr>
        <p:spPr>
          <a:xfrm>
            <a:off x="524741" y="620392"/>
            <a:ext cx="3808268" cy="5504688"/>
          </a:xfrm>
        </p:spPr>
        <p:txBody>
          <a:bodyPr>
            <a:normAutofit/>
          </a:bodyPr>
          <a:lstStyle/>
          <a:p>
            <a:r>
              <a:rPr lang="en-GB" sz="4200" b="1">
                <a:solidFill>
                  <a:schemeClr val="bg1"/>
                </a:solidFill>
                <a:latin typeface="Open Sans" panose="020B0606030504020204" pitchFamily="34" charset="0"/>
              </a:rPr>
              <a:t>M</a:t>
            </a:r>
            <a:r>
              <a:rPr lang="en-GB" sz="4200" b="1" i="0">
                <a:solidFill>
                  <a:schemeClr val="bg1"/>
                </a:solidFill>
                <a:effectLst/>
                <a:latin typeface="Open Sans" panose="020B0606030504020204" pitchFamily="34" charset="0"/>
              </a:rPr>
              <a:t>ethods for Amortization Schedule</a:t>
            </a:r>
            <a:endParaRPr lang="en-GB" sz="4200">
              <a:solidFill>
                <a:schemeClr val="bg1"/>
              </a:solidFill>
            </a:endParaRPr>
          </a:p>
        </p:txBody>
      </p:sp>
      <p:graphicFrame>
        <p:nvGraphicFramePr>
          <p:cNvPr id="5" name="Content Placeholder 2">
            <a:extLst>
              <a:ext uri="{FF2B5EF4-FFF2-40B4-BE49-F238E27FC236}">
                <a16:creationId xmlns:a16="http://schemas.microsoft.com/office/drawing/2014/main" id="{2CB0CAFE-F337-4F65-B4CA-C4CF00D5CC63}"/>
              </a:ext>
            </a:extLst>
          </p:cNvPr>
          <p:cNvGraphicFramePr>
            <a:graphicFrameLocks noGrp="1"/>
          </p:cNvGraphicFramePr>
          <p:nvPr>
            <p:ph idx="1"/>
            <p:extLst>
              <p:ext uri="{D42A27DB-BD31-4B8C-83A1-F6EECF244321}">
                <p14:modId xmlns:p14="http://schemas.microsoft.com/office/powerpoint/2010/main" val="2876327966"/>
              </p:ext>
            </p:extLst>
          </p:nvPr>
        </p:nvGraphicFramePr>
        <p:xfrm>
          <a:off x="5468389" y="620392"/>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364456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Stock market graph on display">
            <a:extLst>
              <a:ext uri="{FF2B5EF4-FFF2-40B4-BE49-F238E27FC236}">
                <a16:creationId xmlns:a16="http://schemas.microsoft.com/office/drawing/2014/main" id="{5B73FB14-F10D-4B36-B014-D9FD79E98AFD}"/>
              </a:ext>
            </a:extLst>
          </p:cNvPr>
          <p:cNvPicPr>
            <a:picLocks noChangeAspect="1"/>
          </p:cNvPicPr>
          <p:nvPr/>
        </p:nvPicPr>
        <p:blipFill rotWithShape="1">
          <a:blip r:embed="rId2"/>
          <a:srcRect l="43325" r="17470" b="-1"/>
          <a:stretch/>
        </p:blipFill>
        <p:spPr>
          <a:xfrm>
            <a:off x="20" y="10"/>
            <a:ext cx="4635571" cy="6857990"/>
          </a:xfrm>
          <a:prstGeom prst="rect">
            <a:avLst/>
          </a:prstGeom>
          <a:effectLst/>
        </p:spPr>
      </p:pic>
      <p:sp>
        <p:nvSpPr>
          <p:cNvPr id="9" name="Rectangle 8">
            <a:extLst>
              <a:ext uri="{FF2B5EF4-FFF2-40B4-BE49-F238E27FC236}">
                <a16:creationId xmlns:a16="http://schemas.microsoft.com/office/drawing/2014/main" id="{624D8376-6E48-4B62-8469-E3BC5ED6A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5591" y="0"/>
            <a:ext cx="755640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A151CF1-34C4-4E6C-A6B8-93E828C78FB1}"/>
              </a:ext>
            </a:extLst>
          </p:cNvPr>
          <p:cNvSpPr>
            <a:spLocks noGrp="1"/>
          </p:cNvSpPr>
          <p:nvPr>
            <p:ph type="title"/>
          </p:nvPr>
        </p:nvSpPr>
        <p:spPr>
          <a:xfrm>
            <a:off x="4965430" y="629266"/>
            <a:ext cx="6586491" cy="1676603"/>
          </a:xfrm>
        </p:spPr>
        <p:txBody>
          <a:bodyPr>
            <a:normAutofit/>
          </a:bodyPr>
          <a:lstStyle/>
          <a:p>
            <a:r>
              <a:rPr lang="en-GB" sz="5400" b="1" i="0">
                <a:solidFill>
                  <a:schemeClr val="bg1"/>
                </a:solidFill>
                <a:effectLst/>
                <a:latin typeface="Open Sans" panose="020B0606030504020204" pitchFamily="34" charset="0"/>
              </a:rPr>
              <a:t>2. Declining balance</a:t>
            </a:r>
            <a:endParaRPr lang="en-GB" sz="5400">
              <a:solidFill>
                <a:schemeClr val="bg1"/>
              </a:solidFill>
            </a:endParaRPr>
          </a:p>
        </p:txBody>
      </p:sp>
      <p:sp>
        <p:nvSpPr>
          <p:cNvPr id="3" name="Content Placeholder 2">
            <a:extLst>
              <a:ext uri="{FF2B5EF4-FFF2-40B4-BE49-F238E27FC236}">
                <a16:creationId xmlns:a16="http://schemas.microsoft.com/office/drawing/2014/main" id="{13FFAF6D-0924-400A-B6F7-612F9DF184B4}"/>
              </a:ext>
            </a:extLst>
          </p:cNvPr>
          <p:cNvSpPr>
            <a:spLocks noGrp="1"/>
          </p:cNvSpPr>
          <p:nvPr>
            <p:ph idx="1"/>
          </p:nvPr>
        </p:nvSpPr>
        <p:spPr>
          <a:xfrm>
            <a:off x="4965431" y="2305870"/>
            <a:ext cx="6840489" cy="3917950"/>
          </a:xfrm>
        </p:spPr>
        <p:txBody>
          <a:bodyPr>
            <a:normAutofit lnSpcReduction="10000"/>
          </a:bodyPr>
          <a:lstStyle/>
          <a:p>
            <a:pPr marL="0" indent="0">
              <a:buNone/>
            </a:pPr>
            <a:r>
              <a:rPr lang="en-US" sz="2400" b="0" i="0" dirty="0">
                <a:solidFill>
                  <a:schemeClr val="accent1">
                    <a:lumMod val="20000"/>
                    <a:lumOff val="80000"/>
                  </a:schemeClr>
                </a:solidFill>
                <a:effectLst/>
                <a:latin typeface="Open Sans" panose="020B0606030504020204" pitchFamily="34" charset="0"/>
              </a:rPr>
              <a:t>The declining-balance method is an accelerated method of amortization where the periodic interest payment declines, but the principal repayment increases with the age of the loan. In such a method, each periodic payment is greater than the interest charged (</a:t>
            </a:r>
            <a:r>
              <a:rPr lang="en-US" sz="2400" b="0" i="0" u="none" strike="noStrike" dirty="0">
                <a:solidFill>
                  <a:schemeClr val="accent1">
                    <a:lumMod val="20000"/>
                    <a:lumOff val="80000"/>
                  </a:schemeClr>
                </a:solidFill>
                <a:effectLst/>
                <a:latin typeface="Open Sans" panose="020B0606030504020204" pitchFamily="34" charset="0"/>
                <a:hlinkClick r:id="rId3"/>
              </a:rPr>
              <a:t>interest rate</a:t>
            </a:r>
            <a:r>
              <a:rPr lang="en-US" sz="2400" b="0" i="0" dirty="0">
                <a:solidFill>
                  <a:schemeClr val="accent1">
                    <a:lumMod val="20000"/>
                    <a:lumOff val="80000"/>
                  </a:schemeClr>
                </a:solidFill>
                <a:effectLst/>
                <a:latin typeface="Open Sans" panose="020B0606030504020204" pitchFamily="34" charset="0"/>
              </a:rPr>
              <a:t> times the beginning loan balance of the period); the remaining part repays the principal, and the loan balance declines. The declining loan balance leads to lower interest charges, and thus accelerates the repayment of the principal.</a:t>
            </a:r>
            <a:endParaRPr lang="en-GB" sz="2400" dirty="0">
              <a:solidFill>
                <a:schemeClr val="accent1">
                  <a:lumMod val="20000"/>
                  <a:lumOff val="80000"/>
                </a:schemeClr>
              </a:solidFill>
            </a:endParaRPr>
          </a:p>
        </p:txBody>
      </p:sp>
    </p:spTree>
    <p:extLst>
      <p:ext uri="{BB962C8B-B14F-4D97-AF65-F5344CB8AC3E}">
        <p14:creationId xmlns:p14="http://schemas.microsoft.com/office/powerpoint/2010/main" val="4810888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6DF0B44-304A-4565-A652-3B071DAB784C}"/>
              </a:ext>
            </a:extLst>
          </p:cNvPr>
          <p:cNvPicPr>
            <a:picLocks noChangeAspect="1"/>
          </p:cNvPicPr>
          <p:nvPr/>
        </p:nvPicPr>
        <p:blipFill rotWithShape="1">
          <a:blip r:embed="rId2"/>
          <a:srcRect l="30186" r="24694" b="-1"/>
          <a:stretch/>
        </p:blipFill>
        <p:spPr>
          <a:xfrm>
            <a:off x="20" y="10"/>
            <a:ext cx="4635571" cy="6857990"/>
          </a:xfrm>
          <a:prstGeom prst="rect">
            <a:avLst/>
          </a:prstGeom>
          <a:effectLst/>
        </p:spPr>
      </p:pic>
      <p:sp>
        <p:nvSpPr>
          <p:cNvPr id="10" name="Rectangle 9">
            <a:extLst>
              <a:ext uri="{FF2B5EF4-FFF2-40B4-BE49-F238E27FC236}">
                <a16:creationId xmlns:a16="http://schemas.microsoft.com/office/drawing/2014/main" id="{624D8376-6E48-4B62-8469-E3BC5ED6A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5591" y="0"/>
            <a:ext cx="755640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8B1C748-F4A5-4062-8AAB-66723ACC1E4B}"/>
              </a:ext>
            </a:extLst>
          </p:cNvPr>
          <p:cNvSpPr>
            <a:spLocks noGrp="1"/>
          </p:cNvSpPr>
          <p:nvPr>
            <p:ph type="title"/>
          </p:nvPr>
        </p:nvSpPr>
        <p:spPr>
          <a:xfrm>
            <a:off x="4965430" y="629266"/>
            <a:ext cx="6586491" cy="1676603"/>
          </a:xfrm>
        </p:spPr>
        <p:txBody>
          <a:bodyPr>
            <a:normAutofit/>
          </a:bodyPr>
          <a:lstStyle/>
          <a:p>
            <a:r>
              <a:rPr lang="en-GB" sz="5400" b="1" i="0">
                <a:solidFill>
                  <a:schemeClr val="bg1"/>
                </a:solidFill>
                <a:effectLst/>
                <a:latin typeface="Open Sans" panose="020B0606030504020204" pitchFamily="34" charset="0"/>
              </a:rPr>
              <a:t>3. Annuity</a:t>
            </a:r>
            <a:endParaRPr lang="en-GB" sz="5400">
              <a:solidFill>
                <a:schemeClr val="bg1"/>
              </a:solidFill>
            </a:endParaRPr>
          </a:p>
        </p:txBody>
      </p:sp>
      <p:graphicFrame>
        <p:nvGraphicFramePr>
          <p:cNvPr id="5" name="Content Placeholder 2">
            <a:extLst>
              <a:ext uri="{FF2B5EF4-FFF2-40B4-BE49-F238E27FC236}">
                <a16:creationId xmlns:a16="http://schemas.microsoft.com/office/drawing/2014/main" id="{B93D335C-7DD9-474D-919F-4EF88D7013C4}"/>
              </a:ext>
            </a:extLst>
          </p:cNvPr>
          <p:cNvGraphicFramePr>
            <a:graphicFrameLocks noGrp="1"/>
          </p:cNvGraphicFramePr>
          <p:nvPr>
            <p:ph idx="1"/>
            <p:extLst>
              <p:ext uri="{D42A27DB-BD31-4B8C-83A1-F6EECF244321}">
                <p14:modId xmlns:p14="http://schemas.microsoft.com/office/powerpoint/2010/main" val="3174324216"/>
              </p:ext>
            </p:extLst>
          </p:nvPr>
        </p:nvGraphicFramePr>
        <p:xfrm>
          <a:off x="4965431" y="2438400"/>
          <a:ext cx="6586489" cy="37854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926943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819A166-7571-4003-A6B8-B62034C3E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0932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CD1210E-4E82-4AC7-9724-9FC57FBF7694}"/>
              </a:ext>
            </a:extLst>
          </p:cNvPr>
          <p:cNvSpPr>
            <a:spLocks noGrp="1"/>
          </p:cNvSpPr>
          <p:nvPr>
            <p:ph type="title"/>
          </p:nvPr>
        </p:nvSpPr>
        <p:spPr>
          <a:xfrm>
            <a:off x="524741" y="620392"/>
            <a:ext cx="3808268" cy="5504688"/>
          </a:xfrm>
        </p:spPr>
        <p:txBody>
          <a:bodyPr>
            <a:normAutofit/>
          </a:bodyPr>
          <a:lstStyle/>
          <a:p>
            <a:r>
              <a:rPr lang="en-GB" sz="6000" b="1" i="0">
                <a:solidFill>
                  <a:schemeClr val="bg1"/>
                </a:solidFill>
                <a:effectLst/>
                <a:latin typeface="Open Sans" panose="020B0606030504020204" pitchFamily="34" charset="0"/>
              </a:rPr>
              <a:t>4. Bullet</a:t>
            </a:r>
            <a:endParaRPr lang="en-GB" sz="6000">
              <a:solidFill>
                <a:schemeClr val="bg1"/>
              </a:solidFill>
            </a:endParaRPr>
          </a:p>
        </p:txBody>
      </p:sp>
      <p:graphicFrame>
        <p:nvGraphicFramePr>
          <p:cNvPr id="5" name="Content Placeholder 2">
            <a:extLst>
              <a:ext uri="{FF2B5EF4-FFF2-40B4-BE49-F238E27FC236}">
                <a16:creationId xmlns:a16="http://schemas.microsoft.com/office/drawing/2014/main" id="{2E05D1FB-69CC-4EEB-AF27-3F0792875C7C}"/>
              </a:ext>
            </a:extLst>
          </p:cNvPr>
          <p:cNvGraphicFramePr>
            <a:graphicFrameLocks noGrp="1"/>
          </p:cNvGraphicFramePr>
          <p:nvPr>
            <p:ph idx="1"/>
            <p:extLst>
              <p:ext uri="{D42A27DB-BD31-4B8C-83A1-F6EECF244321}">
                <p14:modId xmlns:p14="http://schemas.microsoft.com/office/powerpoint/2010/main" val="3196030845"/>
              </p:ext>
            </p:extLst>
          </p:nvPr>
        </p:nvGraphicFramePr>
        <p:xfrm>
          <a:off x="5468389" y="620392"/>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374237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F89DD4-9544-469B-9DF9-93FD7712EAB8}"/>
              </a:ext>
            </a:extLst>
          </p:cNvPr>
          <p:cNvSpPr>
            <a:spLocks noGrp="1"/>
          </p:cNvSpPr>
          <p:nvPr>
            <p:ph type="title"/>
          </p:nvPr>
        </p:nvSpPr>
        <p:spPr>
          <a:xfrm>
            <a:off x="1171074" y="1396686"/>
            <a:ext cx="3240506" cy="4064628"/>
          </a:xfrm>
        </p:spPr>
        <p:txBody>
          <a:bodyPr>
            <a:normAutofit/>
          </a:bodyPr>
          <a:lstStyle/>
          <a:p>
            <a:r>
              <a:rPr lang="en-GB" b="1" i="0">
                <a:solidFill>
                  <a:srgbClr val="FFFFFF"/>
                </a:solidFill>
                <a:effectLst/>
                <a:latin typeface="Open Sans" panose="020B0606030504020204" pitchFamily="34" charset="0"/>
              </a:rPr>
              <a:t>5. Balloon</a:t>
            </a:r>
            <a:endParaRPr lang="en-GB">
              <a:solidFill>
                <a:srgbClr val="FFFFFF"/>
              </a:solidFill>
            </a:endParaRP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2ACB5993-28EF-4543-9171-0E850EC92909}"/>
              </a:ext>
            </a:extLst>
          </p:cNvPr>
          <p:cNvSpPr>
            <a:spLocks noGrp="1"/>
          </p:cNvSpPr>
          <p:nvPr>
            <p:ph idx="1"/>
          </p:nvPr>
        </p:nvSpPr>
        <p:spPr>
          <a:xfrm>
            <a:off x="5370153" y="1526033"/>
            <a:ext cx="5536397" cy="3935281"/>
          </a:xfrm>
        </p:spPr>
        <p:txBody>
          <a:bodyPr>
            <a:normAutofit/>
          </a:bodyPr>
          <a:lstStyle/>
          <a:p>
            <a:pPr marL="0" indent="0">
              <a:buNone/>
            </a:pPr>
            <a:r>
              <a:rPr lang="en-US" sz="2600" b="0" i="0">
                <a:effectLst/>
                <a:latin typeface="Open Sans" panose="020B0606030504020204" pitchFamily="34" charset="0"/>
              </a:rPr>
              <a:t>A balloon loan is similar to a bullet loan, which usually repays its entire principal at maturity. Occasionally, it is amortized with small amounts of principal repayments, but still leaves the majority paid at maturity. In such a case, the balance outstanding slightly decreases over the loan life and falls to zero at maturity.</a:t>
            </a:r>
            <a:endParaRPr lang="en-GB" sz="2600"/>
          </a:p>
        </p:txBody>
      </p:sp>
    </p:spTree>
    <p:extLst>
      <p:ext uri="{BB962C8B-B14F-4D97-AF65-F5344CB8AC3E}">
        <p14:creationId xmlns:p14="http://schemas.microsoft.com/office/powerpoint/2010/main" val="6908965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AD21898E-86C0-4C8A-A76C-DF33E844C8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9542" y="0"/>
            <a:ext cx="10432916" cy="6858000"/>
          </a:xfrm>
          <a:custGeom>
            <a:avLst/>
            <a:gdLst>
              <a:gd name="connsiteX0" fmla="*/ 1287962 w 10432916"/>
              <a:gd name="connsiteY0" fmla="*/ 0 h 6858000"/>
              <a:gd name="connsiteX1" fmla="*/ 9144956 w 10432916"/>
              <a:gd name="connsiteY1" fmla="*/ 0 h 6858000"/>
              <a:gd name="connsiteX2" fmla="*/ 9241731 w 10432916"/>
              <a:gd name="connsiteY2" fmla="*/ 111692 h 6858000"/>
              <a:gd name="connsiteX3" fmla="*/ 10432916 w 10432916"/>
              <a:gd name="connsiteY3" fmla="*/ 3429001 h 6858000"/>
              <a:gd name="connsiteX4" fmla="*/ 9241730 w 10432916"/>
              <a:gd name="connsiteY4" fmla="*/ 6746310 h 6858000"/>
              <a:gd name="connsiteX5" fmla="*/ 9144957 w 10432916"/>
              <a:gd name="connsiteY5" fmla="*/ 6858000 h 6858000"/>
              <a:gd name="connsiteX6" fmla="*/ 1287959 w 10432916"/>
              <a:gd name="connsiteY6" fmla="*/ 6858000 h 6858000"/>
              <a:gd name="connsiteX7" fmla="*/ 1191186 w 10432916"/>
              <a:gd name="connsiteY7" fmla="*/ 6746310 h 6858000"/>
              <a:gd name="connsiteX8" fmla="*/ 0 w 10432916"/>
              <a:gd name="connsiteY8" fmla="*/ 3429001 h 6858000"/>
              <a:gd name="connsiteX9" fmla="*/ 1191186 w 10432916"/>
              <a:gd name="connsiteY9" fmla="*/ 11169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2916" h="6858000">
                <a:moveTo>
                  <a:pt x="1287962" y="0"/>
                </a:moveTo>
                <a:lnTo>
                  <a:pt x="9144956" y="0"/>
                </a:lnTo>
                <a:lnTo>
                  <a:pt x="9241731" y="111692"/>
                </a:lnTo>
                <a:cubicBezTo>
                  <a:pt x="9985889" y="1013175"/>
                  <a:pt x="10432916" y="2168897"/>
                  <a:pt x="10432916" y="3429001"/>
                </a:cubicBezTo>
                <a:cubicBezTo>
                  <a:pt x="10432916" y="4689105"/>
                  <a:pt x="9985889" y="5844827"/>
                  <a:pt x="9241730" y="6746310"/>
                </a:cubicBezTo>
                <a:lnTo>
                  <a:pt x="9144957" y="6858000"/>
                </a:lnTo>
                <a:lnTo>
                  <a:pt x="1287959" y="6858000"/>
                </a:lnTo>
                <a:lnTo>
                  <a:pt x="1191186" y="6746310"/>
                </a:lnTo>
                <a:cubicBezTo>
                  <a:pt x="447027" y="5844827"/>
                  <a:pt x="0" y="4689105"/>
                  <a:pt x="0" y="3429001"/>
                </a:cubicBezTo>
                <a:cubicBezTo>
                  <a:pt x="0" y="2168897"/>
                  <a:pt x="447027" y="1013175"/>
                  <a:pt x="1191186" y="111692"/>
                </a:cubicBez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5C8F04BD-D093-45D0-B54C-50FDB308B4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4942" y="0"/>
            <a:ext cx="9922116" cy="6858000"/>
          </a:xfrm>
          <a:custGeom>
            <a:avLst/>
            <a:gdLst>
              <a:gd name="connsiteX0" fmla="*/ 1378575 w 9922116"/>
              <a:gd name="connsiteY0" fmla="*/ 0 h 6858000"/>
              <a:gd name="connsiteX1" fmla="*/ 8543542 w 9922116"/>
              <a:gd name="connsiteY1" fmla="*/ 0 h 6858000"/>
              <a:gd name="connsiteX2" fmla="*/ 8633323 w 9922116"/>
              <a:gd name="connsiteY2" fmla="*/ 94145 h 6858000"/>
              <a:gd name="connsiteX3" fmla="*/ 9922116 w 9922116"/>
              <a:gd name="connsiteY3" fmla="*/ 3429001 h 6858000"/>
              <a:gd name="connsiteX4" fmla="*/ 8633323 w 9922116"/>
              <a:gd name="connsiteY4" fmla="*/ 6763858 h 6858000"/>
              <a:gd name="connsiteX5" fmla="*/ 8543544 w 9922116"/>
              <a:gd name="connsiteY5" fmla="*/ 6858000 h 6858000"/>
              <a:gd name="connsiteX6" fmla="*/ 1378573 w 9922116"/>
              <a:gd name="connsiteY6" fmla="*/ 6858000 h 6858000"/>
              <a:gd name="connsiteX7" fmla="*/ 1288793 w 9922116"/>
              <a:gd name="connsiteY7" fmla="*/ 6763858 h 6858000"/>
              <a:gd name="connsiteX8" fmla="*/ 0 w 9922116"/>
              <a:gd name="connsiteY8" fmla="*/ 3429001 h 6858000"/>
              <a:gd name="connsiteX9" fmla="*/ 1288793 w 9922116"/>
              <a:gd name="connsiteY9" fmla="*/ 9414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22116" h="6858000">
                <a:moveTo>
                  <a:pt x="1378575" y="0"/>
                </a:moveTo>
                <a:lnTo>
                  <a:pt x="8543542" y="0"/>
                </a:lnTo>
                <a:lnTo>
                  <a:pt x="8633323" y="94145"/>
                </a:lnTo>
                <a:cubicBezTo>
                  <a:pt x="9434072" y="974941"/>
                  <a:pt x="9922116" y="2144991"/>
                  <a:pt x="9922116" y="3429001"/>
                </a:cubicBezTo>
                <a:cubicBezTo>
                  <a:pt x="9922116" y="4713011"/>
                  <a:pt x="9434072" y="5883061"/>
                  <a:pt x="8633323" y="6763858"/>
                </a:cubicBezTo>
                <a:lnTo>
                  <a:pt x="8543544" y="6858000"/>
                </a:lnTo>
                <a:lnTo>
                  <a:pt x="1378573" y="6858000"/>
                </a:lnTo>
                <a:lnTo>
                  <a:pt x="1288793" y="6763858"/>
                </a:lnTo>
                <a:cubicBezTo>
                  <a:pt x="488044" y="5883061"/>
                  <a:pt x="0" y="4713011"/>
                  <a:pt x="0" y="3429001"/>
                </a:cubicBezTo>
                <a:cubicBezTo>
                  <a:pt x="0" y="2144991"/>
                  <a:pt x="488044" y="974941"/>
                  <a:pt x="1288793" y="94145"/>
                </a:cubicBezTo>
                <a:close/>
              </a:path>
            </a:pathLst>
          </a:custGeom>
          <a:solidFill>
            <a:schemeClr val="bg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5947AD7-9C13-48A7-B7AE-D1E7B399300E}"/>
              </a:ext>
            </a:extLst>
          </p:cNvPr>
          <p:cNvSpPr>
            <a:spLocks noGrp="1"/>
          </p:cNvSpPr>
          <p:nvPr>
            <p:ph type="title"/>
          </p:nvPr>
        </p:nvSpPr>
        <p:spPr>
          <a:xfrm>
            <a:off x="2311147" y="365760"/>
            <a:ext cx="7569706" cy="1288238"/>
          </a:xfrm>
        </p:spPr>
        <p:txBody>
          <a:bodyPr anchor="ctr">
            <a:normAutofit/>
          </a:bodyPr>
          <a:lstStyle/>
          <a:p>
            <a:pPr algn="ctr"/>
            <a:r>
              <a:rPr lang="en-GB" b="1" i="0">
                <a:effectLst/>
                <a:latin typeface="Open Sans" panose="020B0606030504020204" pitchFamily="34" charset="0"/>
              </a:rPr>
              <a:t>6. Negative amortization</a:t>
            </a:r>
            <a:endParaRPr lang="en-GB"/>
          </a:p>
        </p:txBody>
      </p:sp>
      <p:sp>
        <p:nvSpPr>
          <p:cNvPr id="3" name="Content Placeholder 2">
            <a:extLst>
              <a:ext uri="{FF2B5EF4-FFF2-40B4-BE49-F238E27FC236}">
                <a16:creationId xmlns:a16="http://schemas.microsoft.com/office/drawing/2014/main" id="{BCBCE810-C86E-4DB2-BE38-B5259D4C3727}"/>
              </a:ext>
            </a:extLst>
          </p:cNvPr>
          <p:cNvSpPr>
            <a:spLocks noGrp="1"/>
          </p:cNvSpPr>
          <p:nvPr>
            <p:ph idx="1"/>
          </p:nvPr>
        </p:nvSpPr>
        <p:spPr>
          <a:xfrm>
            <a:off x="2165569" y="1956816"/>
            <a:ext cx="7860863" cy="4024884"/>
          </a:xfrm>
        </p:spPr>
        <p:txBody>
          <a:bodyPr anchor="t">
            <a:normAutofit/>
          </a:bodyPr>
          <a:lstStyle/>
          <a:p>
            <a:pPr marL="0" indent="0">
              <a:buNone/>
            </a:pPr>
            <a:r>
              <a:rPr lang="en-US" sz="2400" b="0" i="0">
                <a:effectLst/>
                <a:latin typeface="Open Sans" panose="020B0606030504020204" pitchFamily="34" charset="0"/>
              </a:rPr>
              <a:t>In the negative amortization method, the total payment of a period is lower than the interest charged for that period. It means that there is nothing left from the periodic payment to repay the principal, and the remaining interest charge will accumulate to increase the outstanding balance of the loan. The loan balance increases over time and will be repaid at maturity.</a:t>
            </a:r>
            <a:endParaRPr lang="en-GB" sz="2400"/>
          </a:p>
        </p:txBody>
      </p:sp>
    </p:spTree>
    <p:extLst>
      <p:ext uri="{BB962C8B-B14F-4D97-AF65-F5344CB8AC3E}">
        <p14:creationId xmlns:p14="http://schemas.microsoft.com/office/powerpoint/2010/main" val="1331796835"/>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819A166-7571-4003-A6B8-B62034C3E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0932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293629A-EFF4-4924-9534-AF642E481E04}"/>
              </a:ext>
            </a:extLst>
          </p:cNvPr>
          <p:cNvSpPr>
            <a:spLocks noGrp="1"/>
          </p:cNvSpPr>
          <p:nvPr>
            <p:ph type="title"/>
          </p:nvPr>
        </p:nvSpPr>
        <p:spPr>
          <a:xfrm>
            <a:off x="524741" y="620392"/>
            <a:ext cx="3808268" cy="5504688"/>
          </a:xfrm>
        </p:spPr>
        <p:txBody>
          <a:bodyPr>
            <a:normAutofit/>
          </a:bodyPr>
          <a:lstStyle/>
          <a:p>
            <a:r>
              <a:rPr lang="en-GB" sz="6000">
                <a:solidFill>
                  <a:schemeClr val="bg1"/>
                </a:solidFill>
              </a:rPr>
              <a:t>Simple interest rate formula </a:t>
            </a:r>
          </a:p>
        </p:txBody>
      </p:sp>
      <p:graphicFrame>
        <p:nvGraphicFramePr>
          <p:cNvPr id="5" name="Content Placeholder 2">
            <a:extLst>
              <a:ext uri="{FF2B5EF4-FFF2-40B4-BE49-F238E27FC236}">
                <a16:creationId xmlns:a16="http://schemas.microsoft.com/office/drawing/2014/main" id="{D2AABD38-DD23-426F-A319-5D133E2A755A}"/>
              </a:ext>
            </a:extLst>
          </p:cNvPr>
          <p:cNvGraphicFramePr>
            <a:graphicFrameLocks noGrp="1"/>
          </p:cNvGraphicFramePr>
          <p:nvPr>
            <p:ph idx="1"/>
            <p:extLst>
              <p:ext uri="{D42A27DB-BD31-4B8C-83A1-F6EECF244321}">
                <p14:modId xmlns:p14="http://schemas.microsoft.com/office/powerpoint/2010/main" val="1817173170"/>
              </p:ext>
            </p:extLst>
          </p:nvPr>
        </p:nvGraphicFramePr>
        <p:xfrm>
          <a:off x="5468389" y="620392"/>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067676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3D3BC-C229-430D-9BCA-EA237A49216B}"/>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C822A68D-763C-4956-B483-CD7F6DFD4527}"/>
              </a:ext>
            </a:extLst>
          </p:cNvPr>
          <p:cNvSpPr>
            <a:spLocks noGrp="1"/>
          </p:cNvSpPr>
          <p:nvPr>
            <p:ph idx="1"/>
          </p:nvPr>
        </p:nvSpPr>
        <p:spPr/>
        <p:txBody>
          <a:bodyPr/>
          <a:lstStyle/>
          <a:p>
            <a:r>
              <a:rPr lang="en-GB" dirty="0"/>
              <a:t>20000*(0.06*1/12)  = 3200</a:t>
            </a:r>
          </a:p>
          <a:p>
            <a:endParaRPr lang="en-GB" dirty="0"/>
          </a:p>
          <a:p>
            <a:r>
              <a:rPr lang="en-GB" dirty="0"/>
              <a:t>20000(1+0.08)^2 -20000 = 3328</a:t>
            </a:r>
          </a:p>
          <a:p>
            <a:endParaRPr lang="en-GB" dirty="0"/>
          </a:p>
          <a:p>
            <a:r>
              <a:rPr lang="en-GB" dirty="0"/>
              <a:t>R = Pi/ 1-(1+</a:t>
            </a:r>
            <a:r>
              <a:rPr lang="en-GB"/>
              <a:t>i)^-n</a:t>
            </a:r>
            <a:endParaRPr lang="en-GB" dirty="0"/>
          </a:p>
        </p:txBody>
      </p:sp>
    </p:spTree>
    <p:extLst>
      <p:ext uri="{BB962C8B-B14F-4D97-AF65-F5344CB8AC3E}">
        <p14:creationId xmlns:p14="http://schemas.microsoft.com/office/powerpoint/2010/main" val="30703409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24C34-6C31-43A4-A8EB-8F4C093DE909}"/>
              </a:ext>
            </a:extLst>
          </p:cNvPr>
          <p:cNvSpPr>
            <a:spLocks noGrp="1"/>
          </p:cNvSpPr>
          <p:nvPr>
            <p:ph type="title"/>
          </p:nvPr>
        </p:nvSpPr>
        <p:spPr/>
        <p:txBody>
          <a:bodyPr/>
          <a:lstStyle/>
          <a:p>
            <a:r>
              <a:rPr lang="en-US" b="1" i="0" dirty="0">
                <a:solidFill>
                  <a:srgbClr val="202124"/>
                </a:solidFill>
                <a:effectLst/>
                <a:latin typeface="arial" panose="020B0604020202020204" pitchFamily="34" charset="0"/>
              </a:rPr>
              <a:t>compound interest</a:t>
            </a:r>
            <a:r>
              <a:rPr lang="en-US" b="0" i="0" dirty="0">
                <a:solidFill>
                  <a:srgbClr val="202124"/>
                </a:solidFill>
                <a:effectLst/>
                <a:latin typeface="arial" panose="020B0604020202020204" pitchFamily="34" charset="0"/>
              </a:rPr>
              <a:t> </a:t>
            </a:r>
            <a:endParaRPr lang="en-GB" dirty="0"/>
          </a:p>
        </p:txBody>
      </p:sp>
      <p:sp>
        <p:nvSpPr>
          <p:cNvPr id="3" name="Content Placeholder 2">
            <a:extLst>
              <a:ext uri="{FF2B5EF4-FFF2-40B4-BE49-F238E27FC236}">
                <a16:creationId xmlns:a16="http://schemas.microsoft.com/office/drawing/2014/main" id="{50976C5E-247E-48A0-907B-7C4224023098}"/>
              </a:ext>
            </a:extLst>
          </p:cNvPr>
          <p:cNvSpPr>
            <a:spLocks noGrp="1"/>
          </p:cNvSpPr>
          <p:nvPr>
            <p:ph idx="1"/>
          </p:nvPr>
        </p:nvSpPr>
        <p:spPr/>
        <p:txBody>
          <a:bodyPr/>
          <a:lstStyle/>
          <a:p>
            <a:r>
              <a:rPr lang="en-US" b="0" i="0" dirty="0">
                <a:solidFill>
                  <a:srgbClr val="202124"/>
                </a:solidFill>
                <a:effectLst/>
                <a:latin typeface="arial" panose="020B0604020202020204" pitchFamily="34" charset="0"/>
              </a:rPr>
              <a:t>P (1 + r/n)^(</a:t>
            </a:r>
            <a:r>
              <a:rPr lang="en-US" b="0" i="0" dirty="0" err="1">
                <a:solidFill>
                  <a:srgbClr val="202124"/>
                </a:solidFill>
                <a:effectLst/>
                <a:latin typeface="arial" panose="020B0604020202020204" pitchFamily="34" charset="0"/>
              </a:rPr>
              <a:t>nt</a:t>
            </a:r>
            <a:r>
              <a:rPr lang="en-US" b="0" i="0" dirty="0">
                <a:solidFill>
                  <a:srgbClr val="202124"/>
                </a:solidFill>
                <a:effectLst/>
                <a:latin typeface="arial" panose="020B0604020202020204" pitchFamily="34" charset="0"/>
              </a:rPr>
              <a:t>)</a:t>
            </a:r>
          </a:p>
          <a:p>
            <a:r>
              <a:rPr lang="en-US" b="0" i="0" dirty="0">
                <a:solidFill>
                  <a:srgbClr val="202124"/>
                </a:solidFill>
                <a:effectLst/>
                <a:latin typeface="arial" panose="020B0604020202020204" pitchFamily="34" charset="0"/>
              </a:rPr>
              <a:t>where P is the initial principal balance,</a:t>
            </a:r>
          </a:p>
          <a:p>
            <a:r>
              <a:rPr lang="en-US" b="0" i="0" dirty="0">
                <a:solidFill>
                  <a:srgbClr val="202124"/>
                </a:solidFill>
                <a:effectLst/>
                <a:latin typeface="arial" panose="020B0604020202020204" pitchFamily="34" charset="0"/>
              </a:rPr>
              <a:t> r is the </a:t>
            </a:r>
            <a:r>
              <a:rPr lang="en-US" b="1" i="0" dirty="0">
                <a:solidFill>
                  <a:srgbClr val="202124"/>
                </a:solidFill>
                <a:effectLst/>
                <a:latin typeface="arial" panose="020B0604020202020204" pitchFamily="34" charset="0"/>
              </a:rPr>
              <a:t>interest rate</a:t>
            </a:r>
            <a:r>
              <a:rPr lang="en-US" b="0" i="0" dirty="0">
                <a:solidFill>
                  <a:srgbClr val="202124"/>
                </a:solidFill>
                <a:effectLst/>
                <a:latin typeface="arial" panose="020B0604020202020204" pitchFamily="34" charset="0"/>
              </a:rPr>
              <a:t>, </a:t>
            </a:r>
          </a:p>
          <a:p>
            <a:r>
              <a:rPr lang="en-US" b="0" i="0" dirty="0">
                <a:solidFill>
                  <a:srgbClr val="202124"/>
                </a:solidFill>
                <a:effectLst/>
                <a:latin typeface="arial" panose="020B0604020202020204" pitchFamily="34" charset="0"/>
              </a:rPr>
              <a:t>n is the number of times </a:t>
            </a:r>
            <a:r>
              <a:rPr lang="en-US" b="1" i="0" dirty="0">
                <a:solidFill>
                  <a:srgbClr val="202124"/>
                </a:solidFill>
                <a:effectLst/>
                <a:latin typeface="arial" panose="020B0604020202020204" pitchFamily="34" charset="0"/>
              </a:rPr>
              <a:t>interest</a:t>
            </a:r>
            <a:r>
              <a:rPr lang="en-US" b="0" i="0" dirty="0">
                <a:solidFill>
                  <a:srgbClr val="202124"/>
                </a:solidFill>
                <a:effectLst/>
                <a:latin typeface="arial" panose="020B0604020202020204" pitchFamily="34" charset="0"/>
              </a:rPr>
              <a:t> is </a:t>
            </a:r>
            <a:r>
              <a:rPr lang="en-US" b="1" i="0" dirty="0">
                <a:solidFill>
                  <a:srgbClr val="202124"/>
                </a:solidFill>
                <a:effectLst/>
                <a:latin typeface="arial" panose="020B0604020202020204" pitchFamily="34" charset="0"/>
              </a:rPr>
              <a:t>compounded</a:t>
            </a:r>
            <a:r>
              <a:rPr lang="en-US" b="0" i="0" dirty="0">
                <a:solidFill>
                  <a:srgbClr val="202124"/>
                </a:solidFill>
                <a:effectLst/>
                <a:latin typeface="arial" panose="020B0604020202020204" pitchFamily="34" charset="0"/>
              </a:rPr>
              <a:t> per time period and t is the number of time periods</a:t>
            </a:r>
            <a:endParaRPr lang="en-GB" dirty="0"/>
          </a:p>
        </p:txBody>
      </p:sp>
      <p:sp>
        <p:nvSpPr>
          <p:cNvPr id="4" name="AutoShape 2" descr="Compound Interest Formula">
            <a:extLst>
              <a:ext uri="{FF2B5EF4-FFF2-40B4-BE49-F238E27FC236}">
                <a16:creationId xmlns:a16="http://schemas.microsoft.com/office/drawing/2014/main" id="{ACA198E8-8E72-44AD-95C4-05D763ECA4E0}"/>
              </a:ext>
            </a:extLst>
          </p:cNvPr>
          <p:cNvSpPr>
            <a:spLocks noChangeAspect="1" noChangeArrowheads="1"/>
          </p:cNvSpPr>
          <p:nvPr/>
        </p:nvSpPr>
        <p:spPr bwMode="auto">
          <a:xfrm>
            <a:off x="4191000" y="3257550"/>
            <a:ext cx="3810000" cy="3429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16220192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CF8C2-BF34-4926-8E98-63E88EE9CF5D}"/>
              </a:ext>
            </a:extLst>
          </p:cNvPr>
          <p:cNvSpPr>
            <a:spLocks noGrp="1"/>
          </p:cNvSpPr>
          <p:nvPr>
            <p:ph type="title"/>
          </p:nvPr>
        </p:nvSpPr>
        <p:spPr/>
        <p:txBody>
          <a:bodyPr/>
          <a:lstStyle/>
          <a:p>
            <a:r>
              <a:rPr lang="en-GB" dirty="0"/>
              <a:t>Detail </a:t>
            </a:r>
          </a:p>
        </p:txBody>
      </p:sp>
      <p:sp>
        <p:nvSpPr>
          <p:cNvPr id="3" name="Content Placeholder 2">
            <a:extLst>
              <a:ext uri="{FF2B5EF4-FFF2-40B4-BE49-F238E27FC236}">
                <a16:creationId xmlns:a16="http://schemas.microsoft.com/office/drawing/2014/main" id="{D102F778-A69C-44A9-B676-3AED52CE3246}"/>
              </a:ext>
            </a:extLst>
          </p:cNvPr>
          <p:cNvSpPr>
            <a:spLocks noGrp="1"/>
          </p:cNvSpPr>
          <p:nvPr>
            <p:ph idx="1"/>
          </p:nvPr>
        </p:nvSpPr>
        <p:spPr/>
        <p:txBody>
          <a:bodyPr/>
          <a:lstStyle/>
          <a:p>
            <a:r>
              <a:rPr lang="en-US" b="0" i="0" dirty="0">
                <a:solidFill>
                  <a:srgbClr val="111111"/>
                </a:solidFill>
                <a:effectLst/>
                <a:latin typeface="SourceSansPro"/>
              </a:rPr>
              <a:t>Compound interest (or compounding interest) is the interest on a loan or deposit calculated based on both the initial principal and the accumulated interest from previous periods. Thought to have originated in 17th-century Italy, compound interest can be thought of as "interest on interest," and will make a sum grow at a faster rate than </a:t>
            </a:r>
            <a:r>
              <a:rPr lang="en-US" b="0" i="0" u="sng" dirty="0">
                <a:solidFill>
                  <a:srgbClr val="2C40D0"/>
                </a:solidFill>
                <a:effectLst/>
                <a:latin typeface="SourceSansPro"/>
                <a:hlinkClick r:id="rId2"/>
              </a:rPr>
              <a:t>simple interest</a:t>
            </a:r>
            <a:r>
              <a:rPr lang="en-US" b="0" i="0" dirty="0">
                <a:solidFill>
                  <a:srgbClr val="111111"/>
                </a:solidFill>
                <a:effectLst/>
                <a:latin typeface="SourceSansPro"/>
              </a:rPr>
              <a:t>, which is calculated only on the principal amount.</a:t>
            </a:r>
          </a:p>
          <a:p>
            <a:r>
              <a:rPr lang="en-US" b="0" i="0" dirty="0">
                <a:solidFill>
                  <a:srgbClr val="111111"/>
                </a:solidFill>
                <a:effectLst/>
                <a:latin typeface="SourceSansPro"/>
              </a:rPr>
              <a:t>The rate at which compound interest accrues depends on the frequency of compounding, such that the higher the number of </a:t>
            </a:r>
            <a:r>
              <a:rPr lang="en-US" b="0" i="0" u="sng" dirty="0">
                <a:solidFill>
                  <a:srgbClr val="2C40D0"/>
                </a:solidFill>
                <a:effectLst/>
                <a:latin typeface="SourceSansPro"/>
                <a:hlinkClick r:id="rId3"/>
              </a:rPr>
              <a:t>compounding</a:t>
            </a:r>
            <a:r>
              <a:rPr lang="en-US" b="0" i="0" dirty="0">
                <a:solidFill>
                  <a:srgbClr val="111111"/>
                </a:solidFill>
                <a:effectLst/>
                <a:latin typeface="SourceSansPro"/>
              </a:rPr>
              <a:t> periods, the greater the compound interest.</a:t>
            </a:r>
            <a:endParaRPr lang="en-GB" dirty="0"/>
          </a:p>
        </p:txBody>
      </p:sp>
    </p:spTree>
    <p:extLst>
      <p:ext uri="{BB962C8B-B14F-4D97-AF65-F5344CB8AC3E}">
        <p14:creationId xmlns:p14="http://schemas.microsoft.com/office/powerpoint/2010/main" val="9796299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11D1D-017C-41ED-B69D-F4542FDF318C}"/>
              </a:ext>
            </a:extLst>
          </p:cNvPr>
          <p:cNvSpPr>
            <a:spLocks noGrp="1"/>
          </p:cNvSpPr>
          <p:nvPr>
            <p:ph type="title"/>
          </p:nvPr>
        </p:nvSpPr>
        <p:spPr/>
        <p:txBody>
          <a:bodyPr/>
          <a:lstStyle/>
          <a:p>
            <a:r>
              <a:rPr lang="en-GB" dirty="0"/>
              <a:t>Example </a:t>
            </a:r>
          </a:p>
        </p:txBody>
      </p:sp>
      <p:sp>
        <p:nvSpPr>
          <p:cNvPr id="3" name="Content Placeholder 2">
            <a:extLst>
              <a:ext uri="{FF2B5EF4-FFF2-40B4-BE49-F238E27FC236}">
                <a16:creationId xmlns:a16="http://schemas.microsoft.com/office/drawing/2014/main" id="{83E80C07-B59E-4DA0-876A-67DF9F654FFC}"/>
              </a:ext>
            </a:extLst>
          </p:cNvPr>
          <p:cNvSpPr>
            <a:spLocks noGrp="1"/>
          </p:cNvSpPr>
          <p:nvPr>
            <p:ph idx="1"/>
          </p:nvPr>
        </p:nvSpPr>
        <p:spPr/>
        <p:txBody>
          <a:bodyPr/>
          <a:lstStyle/>
          <a:p>
            <a:pPr marL="0" indent="0">
              <a:buNone/>
            </a:pPr>
            <a:r>
              <a:rPr lang="en-US" b="0" i="0" dirty="0">
                <a:solidFill>
                  <a:srgbClr val="111111"/>
                </a:solidFill>
                <a:effectLst/>
                <a:latin typeface="SourceSansPro"/>
              </a:rPr>
              <a:t>Take a three-year loan of $10,000 at an interest rate of 5% that compounds annually. </a:t>
            </a:r>
          </a:p>
          <a:p>
            <a:pPr marL="0" indent="0">
              <a:buNone/>
            </a:pPr>
            <a:r>
              <a:rPr lang="en-US" b="0" i="0" dirty="0">
                <a:solidFill>
                  <a:srgbClr val="111111"/>
                </a:solidFill>
                <a:effectLst/>
                <a:latin typeface="SourceSansPro"/>
              </a:rPr>
              <a:t>What would be the amount of interest?</a:t>
            </a:r>
          </a:p>
          <a:p>
            <a:pPr marL="0" indent="0">
              <a:buNone/>
            </a:pPr>
            <a:r>
              <a:rPr lang="en-GB" b="0" i="1" dirty="0">
                <a:solidFill>
                  <a:srgbClr val="111111"/>
                </a:solidFill>
                <a:effectLst/>
                <a:latin typeface="SourceSansPro"/>
              </a:rPr>
              <a:t>$10,000 [(1 + 0.05) </a:t>
            </a:r>
            <a:r>
              <a:rPr lang="en-GB" b="0" i="1" baseline="30000" dirty="0">
                <a:solidFill>
                  <a:srgbClr val="111111"/>
                </a:solidFill>
                <a:effectLst/>
                <a:latin typeface="SourceSansPro"/>
              </a:rPr>
              <a:t>3</a:t>
            </a:r>
            <a:r>
              <a:rPr lang="en-GB" b="0" i="1" dirty="0">
                <a:solidFill>
                  <a:srgbClr val="111111"/>
                </a:solidFill>
                <a:effectLst/>
                <a:latin typeface="SourceSansPro"/>
              </a:rPr>
              <a:t> – 1] = $10,000 [1.157625 – 1] = $1,576.25</a:t>
            </a:r>
            <a:endParaRPr lang="en-US" b="0" i="0" dirty="0">
              <a:solidFill>
                <a:srgbClr val="111111"/>
              </a:solidFill>
              <a:effectLst/>
              <a:latin typeface="SourceSansPro"/>
            </a:endParaRPr>
          </a:p>
          <a:p>
            <a:pPr marL="0" indent="0">
              <a:buNone/>
            </a:pPr>
            <a:endParaRPr lang="en-GB" dirty="0"/>
          </a:p>
        </p:txBody>
      </p:sp>
    </p:spTree>
    <p:extLst>
      <p:ext uri="{BB962C8B-B14F-4D97-AF65-F5344CB8AC3E}">
        <p14:creationId xmlns:p14="http://schemas.microsoft.com/office/powerpoint/2010/main" val="13318047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67AA6-FE01-4673-8732-0C8BBC826AFB}"/>
              </a:ext>
            </a:extLst>
          </p:cNvPr>
          <p:cNvSpPr>
            <a:spLocks noGrp="1"/>
          </p:cNvSpPr>
          <p:nvPr>
            <p:ph type="title"/>
          </p:nvPr>
        </p:nvSpPr>
        <p:spPr/>
        <p:txBody>
          <a:bodyPr/>
          <a:lstStyle/>
          <a:p>
            <a:r>
              <a:rPr lang="en-US" b="0" i="0" dirty="0">
                <a:solidFill>
                  <a:srgbClr val="111111"/>
                </a:solidFill>
                <a:effectLst/>
                <a:latin typeface="SourceSansPro"/>
              </a:rPr>
              <a:t>Time Value of Money Consideration</a:t>
            </a:r>
            <a:endParaRPr lang="en-GB" dirty="0"/>
          </a:p>
        </p:txBody>
      </p:sp>
      <p:sp>
        <p:nvSpPr>
          <p:cNvPr id="3" name="Content Placeholder 2">
            <a:extLst>
              <a:ext uri="{FF2B5EF4-FFF2-40B4-BE49-F238E27FC236}">
                <a16:creationId xmlns:a16="http://schemas.microsoft.com/office/drawing/2014/main" id="{13915661-B25E-42D2-A1F4-F41953BB804C}"/>
              </a:ext>
            </a:extLst>
          </p:cNvPr>
          <p:cNvSpPr>
            <a:spLocks noGrp="1"/>
          </p:cNvSpPr>
          <p:nvPr>
            <p:ph idx="1"/>
          </p:nvPr>
        </p:nvSpPr>
        <p:spPr/>
        <p:txBody>
          <a:bodyPr/>
          <a:lstStyle/>
          <a:p>
            <a:pPr marL="0" indent="0">
              <a:buNone/>
            </a:pPr>
            <a:r>
              <a:rPr lang="en-US" b="0" i="0" dirty="0">
                <a:solidFill>
                  <a:srgbClr val="111111"/>
                </a:solidFill>
                <a:effectLst/>
                <a:latin typeface="SourceSansPro"/>
              </a:rPr>
              <a:t>Understanding the time value of money and the exponential growth created by compounding is essential for investors looking to optimize their income and wealth allocation.</a:t>
            </a:r>
          </a:p>
          <a:p>
            <a:pPr marL="0" indent="0">
              <a:buNone/>
            </a:pPr>
            <a:endParaRPr lang="en-US" dirty="0">
              <a:solidFill>
                <a:srgbClr val="111111"/>
              </a:solidFill>
              <a:latin typeface="SourceSansPro"/>
            </a:endParaRPr>
          </a:p>
          <a:p>
            <a:pPr marL="0" indent="0">
              <a:buNone/>
            </a:pPr>
            <a:r>
              <a:rPr lang="pt-BR" b="1" i="1" dirty="0">
                <a:solidFill>
                  <a:srgbClr val="111111"/>
                </a:solidFill>
                <a:effectLst/>
                <a:latin typeface="Cabin-semi-bold"/>
              </a:rPr>
              <a:t>FV = PV (1 +i)</a:t>
            </a:r>
            <a:r>
              <a:rPr lang="pt-BR" b="1" i="1" baseline="30000" dirty="0">
                <a:solidFill>
                  <a:srgbClr val="111111"/>
                </a:solidFill>
                <a:effectLst/>
                <a:latin typeface="Cabin-semi-bold"/>
              </a:rPr>
              <a:t>n </a:t>
            </a:r>
          </a:p>
          <a:p>
            <a:pPr marL="0" indent="0">
              <a:buNone/>
            </a:pPr>
            <a:r>
              <a:rPr lang="pt-BR" b="1" i="1" dirty="0">
                <a:solidFill>
                  <a:srgbClr val="111111"/>
                </a:solidFill>
                <a:effectLst/>
                <a:latin typeface="Cabin-semi-bold"/>
              </a:rPr>
              <a:t>PV = FV / (1 + i)</a:t>
            </a:r>
            <a:r>
              <a:rPr lang="pt-BR" b="1" i="1" baseline="30000" dirty="0">
                <a:solidFill>
                  <a:srgbClr val="111111"/>
                </a:solidFill>
                <a:effectLst/>
                <a:latin typeface="Cabin-semi-bold"/>
              </a:rPr>
              <a:t> n</a:t>
            </a:r>
            <a:endParaRPr lang="en-GB" dirty="0"/>
          </a:p>
        </p:txBody>
      </p:sp>
    </p:spTree>
    <p:extLst>
      <p:ext uri="{BB962C8B-B14F-4D97-AF65-F5344CB8AC3E}">
        <p14:creationId xmlns:p14="http://schemas.microsoft.com/office/powerpoint/2010/main" val="17515958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D27A0-C779-4DF7-BF53-DD337BD0E527}"/>
              </a:ext>
            </a:extLst>
          </p:cNvPr>
          <p:cNvSpPr>
            <a:spLocks noGrp="1"/>
          </p:cNvSpPr>
          <p:nvPr>
            <p:ph type="title"/>
          </p:nvPr>
        </p:nvSpPr>
        <p:spPr/>
        <p:txBody>
          <a:bodyPr/>
          <a:lstStyle/>
          <a:p>
            <a:r>
              <a:rPr lang="en-GB" dirty="0"/>
              <a:t>Examples </a:t>
            </a:r>
          </a:p>
        </p:txBody>
      </p:sp>
      <p:sp>
        <p:nvSpPr>
          <p:cNvPr id="3" name="Content Placeholder 2">
            <a:extLst>
              <a:ext uri="{FF2B5EF4-FFF2-40B4-BE49-F238E27FC236}">
                <a16:creationId xmlns:a16="http://schemas.microsoft.com/office/drawing/2014/main" id="{6F6D2ED2-F117-4BC2-9923-A855D0B05357}"/>
              </a:ext>
            </a:extLst>
          </p:cNvPr>
          <p:cNvSpPr>
            <a:spLocks noGrp="1"/>
          </p:cNvSpPr>
          <p:nvPr>
            <p:ph idx="1"/>
          </p:nvPr>
        </p:nvSpPr>
        <p:spPr/>
        <p:txBody>
          <a:bodyPr/>
          <a:lstStyle/>
          <a:p>
            <a:pPr marL="0" indent="0">
              <a:buNone/>
            </a:pPr>
            <a:r>
              <a:rPr lang="en-US" dirty="0">
                <a:solidFill>
                  <a:srgbClr val="111111"/>
                </a:solidFill>
                <a:latin typeface="SourceSansPro"/>
              </a:rPr>
              <a:t>T</a:t>
            </a:r>
            <a:r>
              <a:rPr lang="en-US" b="0" i="0" dirty="0">
                <a:solidFill>
                  <a:srgbClr val="111111"/>
                </a:solidFill>
                <a:effectLst/>
                <a:latin typeface="SourceSansPro"/>
              </a:rPr>
              <a:t>he future value of $10,000 compounded at 5% annually for three years:</a:t>
            </a:r>
          </a:p>
          <a:p>
            <a:pPr marL="0" indent="0">
              <a:buNone/>
            </a:pPr>
            <a:endParaRPr lang="en-US" b="0" i="0" dirty="0">
              <a:solidFill>
                <a:srgbClr val="111111"/>
              </a:solidFill>
              <a:effectLst/>
              <a:latin typeface="SourceSansPro"/>
            </a:endParaRPr>
          </a:p>
          <a:p>
            <a:pPr marL="0" indent="0">
              <a:buNone/>
            </a:pPr>
            <a:endParaRPr lang="en-GB" dirty="0"/>
          </a:p>
        </p:txBody>
      </p:sp>
      <p:sp>
        <p:nvSpPr>
          <p:cNvPr id="8" name="Rectangle 1">
            <a:extLst>
              <a:ext uri="{FF2B5EF4-FFF2-40B4-BE49-F238E27FC236}">
                <a16:creationId xmlns:a16="http://schemas.microsoft.com/office/drawing/2014/main" id="{C9EEA182-2303-4B85-86D8-92E752C9AB0A}"/>
              </a:ext>
            </a:extLst>
          </p:cNvPr>
          <p:cNvSpPr txBox="1">
            <a:spLocks noChangeArrowheads="1"/>
          </p:cNvSpPr>
          <p:nvPr/>
        </p:nvSpPr>
        <p:spPr bwMode="auto">
          <a:xfrm>
            <a:off x="1333500" y="2754121"/>
            <a:ext cx="9001125"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0" fontAlgn="base" latinLnBrk="0" hangingPunct="0">
              <a:lnSpc>
                <a:spcPct val="90000"/>
              </a:lnSpc>
              <a:spcBef>
                <a:spcPct val="0"/>
              </a:spcBef>
              <a:spcAft>
                <a:spcPct val="0"/>
              </a:spcAft>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0" fontAlgn="base" latinLnBrk="0" hangingPunct="0">
              <a:lnSpc>
                <a:spcPct val="90000"/>
              </a:lnSpc>
              <a:spcBef>
                <a:spcPct val="0"/>
              </a:spcBef>
              <a:spcAft>
                <a:spcPct val="0"/>
              </a:spcAft>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0" fontAlgn="base" latinLnBrk="0" hangingPunct="0">
              <a:lnSpc>
                <a:spcPct val="90000"/>
              </a:lnSpc>
              <a:spcBef>
                <a:spcPct val="0"/>
              </a:spcBef>
              <a:spcAft>
                <a:spcPct val="0"/>
              </a:spcAft>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0" fontAlgn="base" latinLnBrk="0" hangingPunct="0">
              <a:lnSpc>
                <a:spcPct val="90000"/>
              </a:lnSpc>
              <a:spcBef>
                <a:spcPct val="0"/>
              </a:spcBef>
              <a:spcAft>
                <a:spcPct val="0"/>
              </a:spcAft>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0" fontAlgn="base" latinLnBrk="0" hangingPunct="0">
              <a:lnSpc>
                <a:spcPct val="90000"/>
              </a:lnSpc>
              <a:spcBef>
                <a:spcPct val="0"/>
              </a:spcBef>
              <a:spcAft>
                <a:spcPct val="0"/>
              </a:spcAft>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lnSpc>
                <a:spcPct val="90000"/>
              </a:lnSpc>
              <a:spcBef>
                <a:spcPct val="0"/>
              </a:spcBef>
              <a:spcAft>
                <a:spcPct val="0"/>
              </a:spcAft>
              <a:buFont typeface="Arial" panose="020B0604020202020204" pitchFamily="34" charset="0"/>
              <a:buChar char="•"/>
              <a:defRPr sz="18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lnSpc>
                <a:spcPct val="90000"/>
              </a:lnSpc>
              <a:spcBef>
                <a:spcPct val="0"/>
              </a:spcBef>
              <a:spcAft>
                <a:spcPct val="0"/>
              </a:spcAft>
              <a:buFont typeface="Arial" panose="020B0604020202020204" pitchFamily="34" charset="0"/>
              <a:buChar char="•"/>
              <a:defRPr sz="18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lnSpc>
                <a:spcPct val="90000"/>
              </a:lnSpc>
              <a:spcBef>
                <a:spcPct val="0"/>
              </a:spcBef>
              <a:spcAft>
                <a:spcPct val="0"/>
              </a:spcAft>
              <a:buFont typeface="Arial" panose="020B0604020202020204" pitchFamily="34" charset="0"/>
              <a:buChar char="•"/>
              <a:defRPr sz="18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lnSpc>
                <a:spcPct val="90000"/>
              </a:lnSpc>
              <a:spcBef>
                <a:spcPct val="0"/>
              </a:spcBef>
              <a:spcAft>
                <a:spcPct val="0"/>
              </a:spcAft>
              <a:buFont typeface="Arial" panose="020B0604020202020204" pitchFamily="34" charset="0"/>
              <a:buChar char="•"/>
              <a:defRPr sz="1800" kern="1200">
                <a:solidFill>
                  <a:schemeClr val="tx1"/>
                </a:solidFill>
                <a:latin typeface="Arial" panose="020B0604020202020204" pitchFamily="34" charset="0"/>
                <a:ea typeface="+mn-ea"/>
                <a:cs typeface="+mn-cs"/>
              </a:defRPr>
            </a:lvl9pPr>
          </a:lstStyle>
          <a:p>
            <a:pPr marL="0" indent="0">
              <a:lnSpc>
                <a:spcPct val="100000"/>
              </a:lnSpc>
              <a:buFontTx/>
              <a:buNone/>
            </a:pPr>
            <a:r>
              <a:rPr lang="en-US" altLang="en-US" sz="2400" dirty="0">
                <a:solidFill>
                  <a:srgbClr val="111111"/>
                </a:solidFill>
                <a:latin typeface="SourceSansPro"/>
              </a:rPr>
              <a:t>For example, the future value of $10,000 compounded at 5% annually for three years:</a:t>
            </a:r>
            <a:endParaRPr lang="en-US" altLang="en-US" sz="2400" dirty="0"/>
          </a:p>
          <a:p>
            <a:pPr marL="0" indent="0">
              <a:lnSpc>
                <a:spcPct val="100000"/>
              </a:lnSpc>
              <a:buFontTx/>
              <a:buNone/>
            </a:pPr>
            <a:r>
              <a:rPr lang="en-US" altLang="en-US" sz="2400" dirty="0"/>
              <a:t>= $10,000 (1 + 0.05) </a:t>
            </a:r>
            <a:r>
              <a:rPr lang="en-US" altLang="en-US" sz="2400" baseline="30000" dirty="0"/>
              <a:t>3</a:t>
            </a:r>
            <a:endParaRPr lang="en-US" altLang="en-US" sz="2400" dirty="0"/>
          </a:p>
          <a:p>
            <a:pPr marL="0" indent="0">
              <a:lnSpc>
                <a:spcPct val="100000"/>
              </a:lnSpc>
              <a:buFontTx/>
              <a:buNone/>
            </a:pPr>
            <a:r>
              <a:rPr lang="en-US" altLang="en-US" sz="2400" dirty="0"/>
              <a:t>= $10,000 (1.157625)</a:t>
            </a:r>
          </a:p>
          <a:p>
            <a:pPr marL="0" indent="0">
              <a:lnSpc>
                <a:spcPct val="100000"/>
              </a:lnSpc>
              <a:buFontTx/>
              <a:buNone/>
            </a:pPr>
            <a:r>
              <a:rPr lang="en-US" altLang="en-US" sz="2400" dirty="0"/>
              <a:t>= $11,576.25</a:t>
            </a:r>
          </a:p>
          <a:p>
            <a:pPr marL="0" indent="0">
              <a:lnSpc>
                <a:spcPct val="100000"/>
              </a:lnSpc>
              <a:buFontTx/>
              <a:buNone/>
            </a:pPr>
            <a:r>
              <a:rPr lang="en-US" altLang="en-US" sz="2400" dirty="0">
                <a:solidFill>
                  <a:srgbClr val="111111"/>
                </a:solidFill>
                <a:latin typeface="SourceSansPro"/>
              </a:rPr>
              <a:t>The present value of $11,576.25 discounted at 5% for three years:</a:t>
            </a:r>
            <a:endParaRPr lang="en-US" altLang="en-US" sz="2400" dirty="0"/>
          </a:p>
          <a:p>
            <a:pPr marL="0" indent="0">
              <a:lnSpc>
                <a:spcPct val="100000"/>
              </a:lnSpc>
              <a:buFontTx/>
              <a:buNone/>
            </a:pPr>
            <a:r>
              <a:rPr lang="en-US" altLang="en-US" sz="2400" dirty="0"/>
              <a:t>= $11,576.25 / (1 + 0.05) </a:t>
            </a:r>
            <a:r>
              <a:rPr lang="en-US" altLang="en-US" sz="2400" baseline="30000" dirty="0"/>
              <a:t>3</a:t>
            </a:r>
            <a:endParaRPr lang="en-US" altLang="en-US" sz="2400" dirty="0"/>
          </a:p>
          <a:p>
            <a:pPr marL="0" indent="0">
              <a:lnSpc>
                <a:spcPct val="100000"/>
              </a:lnSpc>
              <a:buFontTx/>
              <a:buNone/>
            </a:pPr>
            <a:r>
              <a:rPr lang="en-US" altLang="en-US" sz="2400" dirty="0"/>
              <a:t>= $11,576.25 / 1.157625</a:t>
            </a:r>
          </a:p>
          <a:p>
            <a:pPr marL="0" indent="0">
              <a:lnSpc>
                <a:spcPct val="100000"/>
              </a:lnSpc>
              <a:buFontTx/>
              <a:buNone/>
            </a:pPr>
            <a:r>
              <a:rPr lang="en-US" altLang="en-US" sz="2400" dirty="0"/>
              <a:t>= $10,000 </a:t>
            </a:r>
          </a:p>
        </p:txBody>
      </p:sp>
    </p:spTree>
    <p:extLst>
      <p:ext uri="{BB962C8B-B14F-4D97-AF65-F5344CB8AC3E}">
        <p14:creationId xmlns:p14="http://schemas.microsoft.com/office/powerpoint/2010/main" val="3716549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898B5-2A9D-464E-89DC-AFA9A5D1ED6D}"/>
              </a:ext>
            </a:extLst>
          </p:cNvPr>
          <p:cNvSpPr>
            <a:spLocks noGrp="1"/>
          </p:cNvSpPr>
          <p:nvPr>
            <p:ph type="title"/>
          </p:nvPr>
        </p:nvSpPr>
        <p:spPr/>
        <p:txBody>
          <a:bodyPr/>
          <a:lstStyle/>
          <a:p>
            <a:endParaRPr lang="en-GB"/>
          </a:p>
        </p:txBody>
      </p:sp>
      <p:sp>
        <p:nvSpPr>
          <p:cNvPr id="5" name="Content Placeholder 4">
            <a:extLst>
              <a:ext uri="{FF2B5EF4-FFF2-40B4-BE49-F238E27FC236}">
                <a16:creationId xmlns:a16="http://schemas.microsoft.com/office/drawing/2014/main" id="{83B1C0D8-C401-4AD1-BB8B-BC8F5BE9DD43}"/>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378955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2022</TotalTime>
  <Words>1112</Words>
  <Application>Microsoft Office PowerPoint</Application>
  <PresentationFormat>Widescreen</PresentationFormat>
  <Paragraphs>67</Paragraphs>
  <Slides>21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Arial</vt:lpstr>
      <vt:lpstr>Cabin-semi-bold</vt:lpstr>
      <vt:lpstr>Calibri</vt:lpstr>
      <vt:lpstr>Calibri Light</vt:lpstr>
      <vt:lpstr>Open Sans</vt:lpstr>
      <vt:lpstr>SourceSansPro</vt:lpstr>
      <vt:lpstr>Office Theme</vt:lpstr>
      <vt:lpstr>Amortization schedule</vt:lpstr>
      <vt:lpstr>Amortization schedule</vt:lpstr>
      <vt:lpstr>Amortization schedule</vt:lpstr>
      <vt:lpstr>Understanding Amortization Schedules</vt:lpstr>
      <vt:lpstr>Example of Amortization Schedule</vt:lpstr>
      <vt:lpstr>PowerPoint Presentation</vt:lpstr>
      <vt:lpstr>PowerPoint Presentation</vt:lpstr>
      <vt:lpstr>Methods for Amortization Schedule</vt:lpstr>
      <vt:lpstr>2. Declining balance</vt:lpstr>
      <vt:lpstr>3. Annuity</vt:lpstr>
      <vt:lpstr>4. Bullet</vt:lpstr>
      <vt:lpstr>5. Balloon</vt:lpstr>
      <vt:lpstr>6. Negative amortization</vt:lpstr>
      <vt:lpstr>Simple interest rate formula </vt:lpstr>
      <vt:lpstr>PowerPoint Presentation</vt:lpstr>
      <vt:lpstr>compound interest </vt:lpstr>
      <vt:lpstr>Detail </vt:lpstr>
      <vt:lpstr>Example </vt:lpstr>
      <vt:lpstr>Time Value of Money Consideration</vt:lpstr>
      <vt:lpstr>Examples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Amortization schedule</dc:title>
  <dc:creator>ejaz aslam</dc:creator>
  <cp:lastModifiedBy>ejaz aslam</cp:lastModifiedBy>
  <cp:revision>16</cp:revision>
  <dcterms:created xsi:type="dcterms:W3CDTF">2021-06-24T05:07:32Z</dcterms:created>
  <dcterms:modified xsi:type="dcterms:W3CDTF">2021-07-09T05:44:30Z</dcterms:modified>
</cp:coreProperties>
</file>