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57" r:id="rId3"/>
    <p:sldId id="258" r:id="rId4"/>
    <p:sldId id="259" r:id="rId5"/>
    <p:sldId id="271" r:id="rId6"/>
    <p:sldId id="272" r:id="rId7"/>
    <p:sldId id="273" r:id="rId8"/>
    <p:sldId id="274" r:id="rId9"/>
    <p:sldId id="275" r:id="rId10"/>
    <p:sldId id="276" r:id="rId11"/>
    <p:sldId id="277" r:id="rId12"/>
    <p:sldId id="278" r:id="rId13"/>
    <p:sldId id="279" r:id="rId14"/>
    <p:sldId id="280" r:id="rId15"/>
    <p:sldId id="281" r:id="rId16"/>
    <p:sldId id="270" r:id="rId17"/>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9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5DE06-50DB-8B5F-D63B-7BDA6DB4BA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987D92-4CE2-9673-7A5F-E4FA5D34C0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EAA1B3-99DD-B4C0-D5C1-DDF63C94D503}"/>
              </a:ext>
            </a:extLst>
          </p:cNvPr>
          <p:cNvSpPr>
            <a:spLocks noGrp="1"/>
          </p:cNvSpPr>
          <p:nvPr>
            <p:ph type="dt" sz="half" idx="10"/>
          </p:nvPr>
        </p:nvSpPr>
        <p:spPr/>
        <p:txBody>
          <a:bodyPr/>
          <a:lstStyle/>
          <a:p>
            <a:fld id="{475CA3EC-D4E8-44E0-8DB5-9F310BCFD9E3}" type="datetimeFigureOut">
              <a:rPr lang="en-US" smtClean="0"/>
              <a:t>7/20/2024</a:t>
            </a:fld>
            <a:endParaRPr lang="en-US"/>
          </a:p>
        </p:txBody>
      </p:sp>
      <p:sp>
        <p:nvSpPr>
          <p:cNvPr id="5" name="Footer Placeholder 4">
            <a:extLst>
              <a:ext uri="{FF2B5EF4-FFF2-40B4-BE49-F238E27FC236}">
                <a16:creationId xmlns:a16="http://schemas.microsoft.com/office/drawing/2014/main" id="{93A368D8-D7FD-61E0-58EF-63B7B9629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3E8D85-8F02-F8EB-52E0-BE70AB899451}"/>
              </a:ext>
            </a:extLst>
          </p:cNvPr>
          <p:cNvSpPr>
            <a:spLocks noGrp="1"/>
          </p:cNvSpPr>
          <p:nvPr>
            <p:ph type="sldNum" sz="quarter" idx="12"/>
          </p:nvPr>
        </p:nvSpPr>
        <p:spPr/>
        <p:txBody>
          <a:bodyPr/>
          <a:lstStyle/>
          <a:p>
            <a:fld id="{99FE1893-8812-4A4F-BA5B-515BB2839A61}" type="slidenum">
              <a:rPr lang="en-US" smtClean="0"/>
              <a:t>‹#›</a:t>
            </a:fld>
            <a:endParaRPr lang="en-US"/>
          </a:p>
        </p:txBody>
      </p:sp>
    </p:spTree>
    <p:extLst>
      <p:ext uri="{BB962C8B-B14F-4D97-AF65-F5344CB8AC3E}">
        <p14:creationId xmlns:p14="http://schemas.microsoft.com/office/powerpoint/2010/main" val="430098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84DD9-E5C6-F910-40C0-9736D1471D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572339-95F1-2324-9594-F8BF99CF1D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B42F43-EAEF-8142-D828-AF9D646B9B39}"/>
              </a:ext>
            </a:extLst>
          </p:cNvPr>
          <p:cNvSpPr>
            <a:spLocks noGrp="1"/>
          </p:cNvSpPr>
          <p:nvPr>
            <p:ph type="dt" sz="half" idx="10"/>
          </p:nvPr>
        </p:nvSpPr>
        <p:spPr/>
        <p:txBody>
          <a:bodyPr/>
          <a:lstStyle/>
          <a:p>
            <a:fld id="{475CA3EC-D4E8-44E0-8DB5-9F310BCFD9E3}" type="datetimeFigureOut">
              <a:rPr lang="en-US" smtClean="0"/>
              <a:t>7/20/2024</a:t>
            </a:fld>
            <a:endParaRPr lang="en-US"/>
          </a:p>
        </p:txBody>
      </p:sp>
      <p:sp>
        <p:nvSpPr>
          <p:cNvPr id="5" name="Footer Placeholder 4">
            <a:extLst>
              <a:ext uri="{FF2B5EF4-FFF2-40B4-BE49-F238E27FC236}">
                <a16:creationId xmlns:a16="http://schemas.microsoft.com/office/drawing/2014/main" id="{E4244F49-07BC-EA11-E262-6906CCE62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2E7720-881B-A64E-2FC9-A737972CB95C}"/>
              </a:ext>
            </a:extLst>
          </p:cNvPr>
          <p:cNvSpPr>
            <a:spLocks noGrp="1"/>
          </p:cNvSpPr>
          <p:nvPr>
            <p:ph type="sldNum" sz="quarter" idx="12"/>
          </p:nvPr>
        </p:nvSpPr>
        <p:spPr/>
        <p:txBody>
          <a:bodyPr/>
          <a:lstStyle/>
          <a:p>
            <a:fld id="{99FE1893-8812-4A4F-BA5B-515BB2839A61}" type="slidenum">
              <a:rPr lang="en-US" smtClean="0"/>
              <a:t>‹#›</a:t>
            </a:fld>
            <a:endParaRPr lang="en-US"/>
          </a:p>
        </p:txBody>
      </p:sp>
    </p:spTree>
    <p:extLst>
      <p:ext uri="{BB962C8B-B14F-4D97-AF65-F5344CB8AC3E}">
        <p14:creationId xmlns:p14="http://schemas.microsoft.com/office/powerpoint/2010/main" val="1474434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343F8-9DC2-D610-FAE4-BD1D85C31B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E3D614-52AA-D7AD-7CBC-FAD3DA7FB6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9C5259-D467-947D-2B6D-520F2DC0853A}"/>
              </a:ext>
            </a:extLst>
          </p:cNvPr>
          <p:cNvSpPr>
            <a:spLocks noGrp="1"/>
          </p:cNvSpPr>
          <p:nvPr>
            <p:ph type="dt" sz="half" idx="10"/>
          </p:nvPr>
        </p:nvSpPr>
        <p:spPr/>
        <p:txBody>
          <a:bodyPr/>
          <a:lstStyle/>
          <a:p>
            <a:fld id="{475CA3EC-D4E8-44E0-8DB5-9F310BCFD9E3}" type="datetimeFigureOut">
              <a:rPr lang="en-US" smtClean="0"/>
              <a:t>7/20/2024</a:t>
            </a:fld>
            <a:endParaRPr lang="en-US"/>
          </a:p>
        </p:txBody>
      </p:sp>
      <p:sp>
        <p:nvSpPr>
          <p:cNvPr id="5" name="Footer Placeholder 4">
            <a:extLst>
              <a:ext uri="{FF2B5EF4-FFF2-40B4-BE49-F238E27FC236}">
                <a16:creationId xmlns:a16="http://schemas.microsoft.com/office/drawing/2014/main" id="{E51AD70F-0977-CFC1-A86A-3B64E20C19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59280F-B051-7E8B-9D6A-3E4D8EDF7921}"/>
              </a:ext>
            </a:extLst>
          </p:cNvPr>
          <p:cNvSpPr>
            <a:spLocks noGrp="1"/>
          </p:cNvSpPr>
          <p:nvPr>
            <p:ph type="sldNum" sz="quarter" idx="12"/>
          </p:nvPr>
        </p:nvSpPr>
        <p:spPr/>
        <p:txBody>
          <a:bodyPr/>
          <a:lstStyle/>
          <a:p>
            <a:fld id="{99FE1893-8812-4A4F-BA5B-515BB2839A61}" type="slidenum">
              <a:rPr lang="en-US" smtClean="0"/>
              <a:t>‹#›</a:t>
            </a:fld>
            <a:endParaRPr lang="en-US"/>
          </a:p>
        </p:txBody>
      </p:sp>
    </p:spTree>
    <p:extLst>
      <p:ext uri="{BB962C8B-B14F-4D97-AF65-F5344CB8AC3E}">
        <p14:creationId xmlns:p14="http://schemas.microsoft.com/office/powerpoint/2010/main" val="3524440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D24FB-70AE-8173-8D7D-52BF6F1EE7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2ECDE3-99BA-D6EB-003E-D5AE451E9E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EDDC2F-2E35-1474-A999-5A59F76D99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F2D515-AD7F-A34D-4DB6-A195F6FAAB08}"/>
              </a:ext>
            </a:extLst>
          </p:cNvPr>
          <p:cNvSpPr>
            <a:spLocks noGrp="1"/>
          </p:cNvSpPr>
          <p:nvPr>
            <p:ph type="dt" sz="half" idx="10"/>
          </p:nvPr>
        </p:nvSpPr>
        <p:spPr/>
        <p:txBody>
          <a:bodyPr/>
          <a:lstStyle/>
          <a:p>
            <a:fld id="{475CA3EC-D4E8-44E0-8DB5-9F310BCFD9E3}" type="datetimeFigureOut">
              <a:rPr lang="en-US" smtClean="0"/>
              <a:t>7/20/2024</a:t>
            </a:fld>
            <a:endParaRPr lang="en-US"/>
          </a:p>
        </p:txBody>
      </p:sp>
      <p:sp>
        <p:nvSpPr>
          <p:cNvPr id="6" name="Footer Placeholder 5">
            <a:extLst>
              <a:ext uri="{FF2B5EF4-FFF2-40B4-BE49-F238E27FC236}">
                <a16:creationId xmlns:a16="http://schemas.microsoft.com/office/drawing/2014/main" id="{96E9C0B0-02A0-59AD-4458-493F76486B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11750C-EA9A-6E8E-28C2-EA24732719CA}"/>
              </a:ext>
            </a:extLst>
          </p:cNvPr>
          <p:cNvSpPr>
            <a:spLocks noGrp="1"/>
          </p:cNvSpPr>
          <p:nvPr>
            <p:ph type="sldNum" sz="quarter" idx="12"/>
          </p:nvPr>
        </p:nvSpPr>
        <p:spPr/>
        <p:txBody>
          <a:bodyPr/>
          <a:lstStyle/>
          <a:p>
            <a:fld id="{99FE1893-8812-4A4F-BA5B-515BB2839A61}" type="slidenum">
              <a:rPr lang="en-US" smtClean="0"/>
              <a:t>‹#›</a:t>
            </a:fld>
            <a:endParaRPr lang="en-US"/>
          </a:p>
        </p:txBody>
      </p:sp>
    </p:spTree>
    <p:extLst>
      <p:ext uri="{BB962C8B-B14F-4D97-AF65-F5344CB8AC3E}">
        <p14:creationId xmlns:p14="http://schemas.microsoft.com/office/powerpoint/2010/main" val="691630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88ED1-ECF7-94F5-05BE-B53D72922A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52CC56-5029-5B68-4C36-9771E88368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CC09F8-DD17-1D2B-0D6D-64CF531FB5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B42FE6-552D-3E0C-5E8C-127821B4C6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628B28-EC6B-9EA5-E9B4-7B82E82859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843AF-EAFA-02FF-B533-6C54C3CD05EB}"/>
              </a:ext>
            </a:extLst>
          </p:cNvPr>
          <p:cNvSpPr>
            <a:spLocks noGrp="1"/>
          </p:cNvSpPr>
          <p:nvPr>
            <p:ph type="dt" sz="half" idx="10"/>
          </p:nvPr>
        </p:nvSpPr>
        <p:spPr/>
        <p:txBody>
          <a:bodyPr/>
          <a:lstStyle/>
          <a:p>
            <a:fld id="{475CA3EC-D4E8-44E0-8DB5-9F310BCFD9E3}" type="datetimeFigureOut">
              <a:rPr lang="en-US" smtClean="0"/>
              <a:t>7/20/2024</a:t>
            </a:fld>
            <a:endParaRPr lang="en-US"/>
          </a:p>
        </p:txBody>
      </p:sp>
      <p:sp>
        <p:nvSpPr>
          <p:cNvPr id="8" name="Footer Placeholder 7">
            <a:extLst>
              <a:ext uri="{FF2B5EF4-FFF2-40B4-BE49-F238E27FC236}">
                <a16:creationId xmlns:a16="http://schemas.microsoft.com/office/drawing/2014/main" id="{2103B271-7E47-1FC3-8666-EE0D712238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0A5E6E-1A72-3B38-A025-1CD0835773CD}"/>
              </a:ext>
            </a:extLst>
          </p:cNvPr>
          <p:cNvSpPr>
            <a:spLocks noGrp="1"/>
          </p:cNvSpPr>
          <p:nvPr>
            <p:ph type="sldNum" sz="quarter" idx="12"/>
          </p:nvPr>
        </p:nvSpPr>
        <p:spPr/>
        <p:txBody>
          <a:bodyPr/>
          <a:lstStyle/>
          <a:p>
            <a:fld id="{99FE1893-8812-4A4F-BA5B-515BB2839A61}" type="slidenum">
              <a:rPr lang="en-US" smtClean="0"/>
              <a:t>‹#›</a:t>
            </a:fld>
            <a:endParaRPr lang="en-US"/>
          </a:p>
        </p:txBody>
      </p:sp>
    </p:spTree>
    <p:extLst>
      <p:ext uri="{BB962C8B-B14F-4D97-AF65-F5344CB8AC3E}">
        <p14:creationId xmlns:p14="http://schemas.microsoft.com/office/powerpoint/2010/main" val="1593782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01A80-CAAD-9833-C54B-A198FAD487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1155E8-AAAF-D1FA-8D81-02ABEA1B3CED}"/>
              </a:ext>
            </a:extLst>
          </p:cNvPr>
          <p:cNvSpPr>
            <a:spLocks noGrp="1"/>
          </p:cNvSpPr>
          <p:nvPr>
            <p:ph type="dt" sz="half" idx="10"/>
          </p:nvPr>
        </p:nvSpPr>
        <p:spPr/>
        <p:txBody>
          <a:bodyPr/>
          <a:lstStyle/>
          <a:p>
            <a:fld id="{475CA3EC-D4E8-44E0-8DB5-9F310BCFD9E3}" type="datetimeFigureOut">
              <a:rPr lang="en-US" smtClean="0"/>
              <a:t>7/20/2024</a:t>
            </a:fld>
            <a:endParaRPr lang="en-US"/>
          </a:p>
        </p:txBody>
      </p:sp>
      <p:sp>
        <p:nvSpPr>
          <p:cNvPr id="4" name="Footer Placeholder 3">
            <a:extLst>
              <a:ext uri="{FF2B5EF4-FFF2-40B4-BE49-F238E27FC236}">
                <a16:creationId xmlns:a16="http://schemas.microsoft.com/office/drawing/2014/main" id="{025BCA77-2F41-B063-0FDB-D18653A5F7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D04EEC-2C0F-EB93-4452-4E21534CE76B}"/>
              </a:ext>
            </a:extLst>
          </p:cNvPr>
          <p:cNvSpPr>
            <a:spLocks noGrp="1"/>
          </p:cNvSpPr>
          <p:nvPr>
            <p:ph type="sldNum" sz="quarter" idx="12"/>
          </p:nvPr>
        </p:nvSpPr>
        <p:spPr/>
        <p:txBody>
          <a:bodyPr/>
          <a:lstStyle/>
          <a:p>
            <a:fld id="{99FE1893-8812-4A4F-BA5B-515BB2839A61}" type="slidenum">
              <a:rPr lang="en-US" smtClean="0"/>
              <a:t>‹#›</a:t>
            </a:fld>
            <a:endParaRPr lang="en-US"/>
          </a:p>
        </p:txBody>
      </p:sp>
    </p:spTree>
    <p:extLst>
      <p:ext uri="{BB962C8B-B14F-4D97-AF65-F5344CB8AC3E}">
        <p14:creationId xmlns:p14="http://schemas.microsoft.com/office/powerpoint/2010/main" val="1880080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1FCECA-0AC7-5DAA-FB53-BC629AA56315}"/>
              </a:ext>
            </a:extLst>
          </p:cNvPr>
          <p:cNvSpPr>
            <a:spLocks noGrp="1"/>
          </p:cNvSpPr>
          <p:nvPr>
            <p:ph type="dt" sz="half" idx="10"/>
          </p:nvPr>
        </p:nvSpPr>
        <p:spPr/>
        <p:txBody>
          <a:bodyPr/>
          <a:lstStyle/>
          <a:p>
            <a:fld id="{475CA3EC-D4E8-44E0-8DB5-9F310BCFD9E3}" type="datetimeFigureOut">
              <a:rPr lang="en-US" smtClean="0"/>
              <a:t>7/20/2024</a:t>
            </a:fld>
            <a:endParaRPr lang="en-US"/>
          </a:p>
        </p:txBody>
      </p:sp>
      <p:sp>
        <p:nvSpPr>
          <p:cNvPr id="3" name="Footer Placeholder 2">
            <a:extLst>
              <a:ext uri="{FF2B5EF4-FFF2-40B4-BE49-F238E27FC236}">
                <a16:creationId xmlns:a16="http://schemas.microsoft.com/office/drawing/2014/main" id="{1EF6509A-48BF-C079-F63E-D8BF1137C3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EB4544-6C9B-7FED-0FA8-1BDB623C72D2}"/>
              </a:ext>
            </a:extLst>
          </p:cNvPr>
          <p:cNvSpPr>
            <a:spLocks noGrp="1"/>
          </p:cNvSpPr>
          <p:nvPr>
            <p:ph type="sldNum" sz="quarter" idx="12"/>
          </p:nvPr>
        </p:nvSpPr>
        <p:spPr/>
        <p:txBody>
          <a:bodyPr/>
          <a:lstStyle/>
          <a:p>
            <a:fld id="{99FE1893-8812-4A4F-BA5B-515BB2839A61}" type="slidenum">
              <a:rPr lang="en-US" smtClean="0"/>
              <a:t>‹#›</a:t>
            </a:fld>
            <a:endParaRPr lang="en-US"/>
          </a:p>
        </p:txBody>
      </p:sp>
    </p:spTree>
    <p:extLst>
      <p:ext uri="{BB962C8B-B14F-4D97-AF65-F5344CB8AC3E}">
        <p14:creationId xmlns:p14="http://schemas.microsoft.com/office/powerpoint/2010/main" val="910019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A5344-8A39-AE5C-57DC-59528A3E63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15383-B59C-0467-5BB3-D6C9B9A995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C901D1-D9CB-59CE-F06C-FD2A99572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A45083-01C0-B105-3A24-B5E465F8D578}"/>
              </a:ext>
            </a:extLst>
          </p:cNvPr>
          <p:cNvSpPr>
            <a:spLocks noGrp="1"/>
          </p:cNvSpPr>
          <p:nvPr>
            <p:ph type="dt" sz="half" idx="10"/>
          </p:nvPr>
        </p:nvSpPr>
        <p:spPr/>
        <p:txBody>
          <a:bodyPr/>
          <a:lstStyle/>
          <a:p>
            <a:fld id="{475CA3EC-D4E8-44E0-8DB5-9F310BCFD9E3}" type="datetimeFigureOut">
              <a:rPr lang="en-US" smtClean="0"/>
              <a:t>7/20/2024</a:t>
            </a:fld>
            <a:endParaRPr lang="en-US"/>
          </a:p>
        </p:txBody>
      </p:sp>
      <p:sp>
        <p:nvSpPr>
          <p:cNvPr id="6" name="Footer Placeholder 5">
            <a:extLst>
              <a:ext uri="{FF2B5EF4-FFF2-40B4-BE49-F238E27FC236}">
                <a16:creationId xmlns:a16="http://schemas.microsoft.com/office/drawing/2014/main" id="{A3936664-758D-1409-FF81-F27DE3E239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30D987-EB18-1AA2-D2A1-3874906B1045}"/>
              </a:ext>
            </a:extLst>
          </p:cNvPr>
          <p:cNvSpPr>
            <a:spLocks noGrp="1"/>
          </p:cNvSpPr>
          <p:nvPr>
            <p:ph type="sldNum" sz="quarter" idx="12"/>
          </p:nvPr>
        </p:nvSpPr>
        <p:spPr/>
        <p:txBody>
          <a:bodyPr/>
          <a:lstStyle/>
          <a:p>
            <a:fld id="{99FE1893-8812-4A4F-BA5B-515BB2839A61}" type="slidenum">
              <a:rPr lang="en-US" smtClean="0"/>
              <a:t>‹#›</a:t>
            </a:fld>
            <a:endParaRPr lang="en-US"/>
          </a:p>
        </p:txBody>
      </p:sp>
    </p:spTree>
    <p:extLst>
      <p:ext uri="{BB962C8B-B14F-4D97-AF65-F5344CB8AC3E}">
        <p14:creationId xmlns:p14="http://schemas.microsoft.com/office/powerpoint/2010/main" val="628041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60BBE-AEC5-C12F-F934-C2DA8326D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EBC117-3D48-3B1E-6D54-3FBEA75F62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A91105-CB9F-510E-09D1-1B6C035507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07AD24-B002-E9B5-7EDE-7DC1079EB17D}"/>
              </a:ext>
            </a:extLst>
          </p:cNvPr>
          <p:cNvSpPr>
            <a:spLocks noGrp="1"/>
          </p:cNvSpPr>
          <p:nvPr>
            <p:ph type="dt" sz="half" idx="10"/>
          </p:nvPr>
        </p:nvSpPr>
        <p:spPr/>
        <p:txBody>
          <a:bodyPr/>
          <a:lstStyle/>
          <a:p>
            <a:fld id="{475CA3EC-D4E8-44E0-8DB5-9F310BCFD9E3}" type="datetimeFigureOut">
              <a:rPr lang="en-US" smtClean="0"/>
              <a:t>7/20/2024</a:t>
            </a:fld>
            <a:endParaRPr lang="en-US"/>
          </a:p>
        </p:txBody>
      </p:sp>
      <p:sp>
        <p:nvSpPr>
          <p:cNvPr id="6" name="Footer Placeholder 5">
            <a:extLst>
              <a:ext uri="{FF2B5EF4-FFF2-40B4-BE49-F238E27FC236}">
                <a16:creationId xmlns:a16="http://schemas.microsoft.com/office/drawing/2014/main" id="{0C007DBD-ADEB-1164-015C-8610B83986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AD5B1B-E9A9-5255-711C-EC53A9FBF841}"/>
              </a:ext>
            </a:extLst>
          </p:cNvPr>
          <p:cNvSpPr>
            <a:spLocks noGrp="1"/>
          </p:cNvSpPr>
          <p:nvPr>
            <p:ph type="sldNum" sz="quarter" idx="12"/>
          </p:nvPr>
        </p:nvSpPr>
        <p:spPr/>
        <p:txBody>
          <a:bodyPr/>
          <a:lstStyle/>
          <a:p>
            <a:fld id="{99FE1893-8812-4A4F-BA5B-515BB2839A61}" type="slidenum">
              <a:rPr lang="en-US" smtClean="0"/>
              <a:t>‹#›</a:t>
            </a:fld>
            <a:endParaRPr lang="en-US"/>
          </a:p>
        </p:txBody>
      </p:sp>
    </p:spTree>
    <p:extLst>
      <p:ext uri="{BB962C8B-B14F-4D97-AF65-F5344CB8AC3E}">
        <p14:creationId xmlns:p14="http://schemas.microsoft.com/office/powerpoint/2010/main" val="3600213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696D5-F761-B045-0894-5E876CADBD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FDB9B5-6FA1-2163-CB96-68BF3882DD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213836-55D5-EE00-F7AD-B67A62FDC76B}"/>
              </a:ext>
            </a:extLst>
          </p:cNvPr>
          <p:cNvSpPr>
            <a:spLocks noGrp="1"/>
          </p:cNvSpPr>
          <p:nvPr>
            <p:ph type="dt" sz="half" idx="10"/>
          </p:nvPr>
        </p:nvSpPr>
        <p:spPr/>
        <p:txBody>
          <a:bodyPr/>
          <a:lstStyle/>
          <a:p>
            <a:fld id="{475CA3EC-D4E8-44E0-8DB5-9F310BCFD9E3}" type="datetimeFigureOut">
              <a:rPr lang="en-US" smtClean="0"/>
              <a:t>7/20/2024</a:t>
            </a:fld>
            <a:endParaRPr lang="en-US"/>
          </a:p>
        </p:txBody>
      </p:sp>
      <p:sp>
        <p:nvSpPr>
          <p:cNvPr id="5" name="Footer Placeholder 4">
            <a:extLst>
              <a:ext uri="{FF2B5EF4-FFF2-40B4-BE49-F238E27FC236}">
                <a16:creationId xmlns:a16="http://schemas.microsoft.com/office/drawing/2014/main" id="{98BDFD1C-ECAE-2AD6-09B8-C8227A10DE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FCA893-ED5A-F331-F900-782FD065E164}"/>
              </a:ext>
            </a:extLst>
          </p:cNvPr>
          <p:cNvSpPr>
            <a:spLocks noGrp="1"/>
          </p:cNvSpPr>
          <p:nvPr>
            <p:ph type="sldNum" sz="quarter" idx="12"/>
          </p:nvPr>
        </p:nvSpPr>
        <p:spPr/>
        <p:txBody>
          <a:bodyPr/>
          <a:lstStyle/>
          <a:p>
            <a:fld id="{99FE1893-8812-4A4F-BA5B-515BB2839A61}" type="slidenum">
              <a:rPr lang="en-US" smtClean="0"/>
              <a:t>‹#›</a:t>
            </a:fld>
            <a:endParaRPr lang="en-US"/>
          </a:p>
        </p:txBody>
      </p:sp>
    </p:spTree>
    <p:extLst>
      <p:ext uri="{BB962C8B-B14F-4D97-AF65-F5344CB8AC3E}">
        <p14:creationId xmlns:p14="http://schemas.microsoft.com/office/powerpoint/2010/main" val="2002580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F8108-B65B-9C65-3055-57808F0DE8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52BA36-DA38-4399-A9B0-0E08CFF93A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D4BCE1-82FA-3B07-1812-85DA7F121969}"/>
              </a:ext>
            </a:extLst>
          </p:cNvPr>
          <p:cNvSpPr>
            <a:spLocks noGrp="1"/>
          </p:cNvSpPr>
          <p:nvPr>
            <p:ph type="dt" sz="half" idx="10"/>
          </p:nvPr>
        </p:nvSpPr>
        <p:spPr/>
        <p:txBody>
          <a:bodyPr/>
          <a:lstStyle/>
          <a:p>
            <a:fld id="{475CA3EC-D4E8-44E0-8DB5-9F310BCFD9E3}" type="datetimeFigureOut">
              <a:rPr lang="en-US" smtClean="0"/>
              <a:t>7/20/2024</a:t>
            </a:fld>
            <a:endParaRPr lang="en-US"/>
          </a:p>
        </p:txBody>
      </p:sp>
      <p:sp>
        <p:nvSpPr>
          <p:cNvPr id="5" name="Footer Placeholder 4">
            <a:extLst>
              <a:ext uri="{FF2B5EF4-FFF2-40B4-BE49-F238E27FC236}">
                <a16:creationId xmlns:a16="http://schemas.microsoft.com/office/drawing/2014/main" id="{29042876-A9F1-37F3-EF7A-5FF3C2752A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506D5B-7A25-AA6F-732B-B3A1ED87D76E}"/>
              </a:ext>
            </a:extLst>
          </p:cNvPr>
          <p:cNvSpPr>
            <a:spLocks noGrp="1"/>
          </p:cNvSpPr>
          <p:nvPr>
            <p:ph type="sldNum" sz="quarter" idx="12"/>
          </p:nvPr>
        </p:nvSpPr>
        <p:spPr/>
        <p:txBody>
          <a:bodyPr/>
          <a:lstStyle/>
          <a:p>
            <a:fld id="{99FE1893-8812-4A4F-BA5B-515BB2839A61}" type="slidenum">
              <a:rPr lang="en-US" smtClean="0"/>
              <a:t>‹#›</a:t>
            </a:fld>
            <a:endParaRPr lang="en-US"/>
          </a:p>
        </p:txBody>
      </p:sp>
    </p:spTree>
    <p:extLst>
      <p:ext uri="{BB962C8B-B14F-4D97-AF65-F5344CB8AC3E}">
        <p14:creationId xmlns:p14="http://schemas.microsoft.com/office/powerpoint/2010/main" val="704832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1000"/>
            <a:lum/>
          </a:blip>
          <a:srcRect/>
          <a:stretch>
            <a:fillRect l="21000" r="21000" b="-2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88E361-A3AF-15D4-014B-651724AF2D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9141CC-66FC-05F6-EC5B-7316572B62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91102F-BB49-4720-397D-ECC80C007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5CA3EC-D4E8-44E0-8DB5-9F310BCFD9E3}" type="datetimeFigureOut">
              <a:rPr lang="en-US" smtClean="0"/>
              <a:t>7/20/2024</a:t>
            </a:fld>
            <a:endParaRPr lang="en-US"/>
          </a:p>
        </p:txBody>
      </p:sp>
      <p:sp>
        <p:nvSpPr>
          <p:cNvPr id="5" name="Footer Placeholder 4">
            <a:extLst>
              <a:ext uri="{FF2B5EF4-FFF2-40B4-BE49-F238E27FC236}">
                <a16:creationId xmlns:a16="http://schemas.microsoft.com/office/drawing/2014/main" id="{0D57D133-B05A-34B1-9626-A21445FE5C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81ECAB1-EF2E-3C8A-9C88-05682C8766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FE1893-8812-4A4F-BA5B-515BB2839A61}" type="slidenum">
              <a:rPr lang="en-US" smtClean="0"/>
              <a:t>‹#›</a:t>
            </a:fld>
            <a:endParaRPr lang="en-US"/>
          </a:p>
        </p:txBody>
      </p:sp>
      <p:pic>
        <p:nvPicPr>
          <p:cNvPr id="7" name="Picture 6">
            <a:extLst>
              <a:ext uri="{FF2B5EF4-FFF2-40B4-BE49-F238E27FC236}">
                <a16:creationId xmlns:a16="http://schemas.microsoft.com/office/drawing/2014/main" id="{B25F9C66-0F95-0A9A-2874-10759DF035E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168165" y="132585"/>
            <a:ext cx="1981631" cy="671739"/>
          </a:xfrm>
          <a:prstGeom prst="rect">
            <a:avLst/>
          </a:prstGeom>
        </p:spPr>
      </p:pic>
    </p:spTree>
    <p:extLst>
      <p:ext uri="{BB962C8B-B14F-4D97-AF65-F5344CB8AC3E}">
        <p14:creationId xmlns:p14="http://schemas.microsoft.com/office/powerpoint/2010/main" val="6324780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D60DC4-5B0F-2E09-3487-C2E0DC948B11}"/>
              </a:ext>
            </a:extLst>
          </p:cNvPr>
          <p:cNvSpPr>
            <a:spLocks noGrp="1"/>
          </p:cNvSpPr>
          <p:nvPr>
            <p:ph type="ctrTitle"/>
          </p:nvPr>
        </p:nvSpPr>
        <p:spPr>
          <a:xfrm>
            <a:off x="3810475" y="1697727"/>
            <a:ext cx="4571049" cy="838691"/>
          </a:xfrm>
        </p:spPr>
        <p:txBody>
          <a:bodyPr>
            <a:normAutofit fontScale="90000"/>
          </a:bodyPr>
          <a:lstStyle/>
          <a:p>
            <a:pPr>
              <a:lnSpc>
                <a:spcPct val="150000"/>
              </a:lnSpc>
            </a:pPr>
            <a:r>
              <a:rPr lang="en-US" sz="4900" b="1" dirty="0">
                <a:solidFill>
                  <a:srgbClr val="000000"/>
                </a:solidFill>
                <a:latin typeface="Times New Roman"/>
                <a:ea typeface="+mj-lt"/>
                <a:cs typeface="+mj-lt"/>
              </a:rPr>
              <a:t>“</a:t>
            </a:r>
            <a:r>
              <a:rPr lang="en-US" sz="5300" b="1" dirty="0">
                <a:solidFill>
                  <a:srgbClr val="000000"/>
                </a:solidFill>
                <a:latin typeface="Times New Roman"/>
                <a:ea typeface="+mj-lt"/>
                <a:cs typeface="+mj-lt"/>
              </a:rPr>
              <a:t>ELISA</a:t>
            </a:r>
            <a:r>
              <a:rPr lang="en-US" sz="4900" b="1" dirty="0">
                <a:solidFill>
                  <a:srgbClr val="000000"/>
                </a:solidFill>
                <a:latin typeface="Times New Roman"/>
                <a:ea typeface="+mj-lt"/>
                <a:cs typeface="+mj-lt"/>
              </a:rPr>
              <a:t>”</a:t>
            </a:r>
            <a:endParaRPr lang="en-US" sz="3098" b="1" dirty="0">
              <a:solidFill>
                <a:srgbClr val="000000"/>
              </a:solidFill>
              <a:latin typeface="Times New Roman"/>
              <a:ea typeface="+mj-lt"/>
              <a:cs typeface="+mj-lt"/>
            </a:endParaRPr>
          </a:p>
        </p:txBody>
      </p:sp>
      <p:sp>
        <p:nvSpPr>
          <p:cNvPr id="7" name="Subtitle 2">
            <a:extLst>
              <a:ext uri="{FF2B5EF4-FFF2-40B4-BE49-F238E27FC236}">
                <a16:creationId xmlns:a16="http://schemas.microsoft.com/office/drawing/2014/main" id="{903A2AF3-6290-5B1C-6256-6A68947AC522}"/>
              </a:ext>
            </a:extLst>
          </p:cNvPr>
          <p:cNvSpPr>
            <a:spLocks noGrp="1"/>
          </p:cNvSpPr>
          <p:nvPr>
            <p:ph type="subTitle" idx="1"/>
          </p:nvPr>
        </p:nvSpPr>
        <p:spPr>
          <a:xfrm>
            <a:off x="838199" y="3229633"/>
            <a:ext cx="10944225" cy="1861243"/>
          </a:xfrm>
        </p:spPr>
        <p:txBody>
          <a:bodyPr vert="horz" lIns="91440" tIns="45720" rIns="91440" bIns="45720" rtlCol="0" anchor="t">
            <a:normAutofit/>
          </a:bodyPr>
          <a:lstStyle/>
          <a:p>
            <a:pPr>
              <a:lnSpc>
                <a:spcPct val="200000"/>
              </a:lnSpc>
            </a:pPr>
            <a:r>
              <a:rPr lang="en-US" dirty="0">
                <a:solidFill>
                  <a:srgbClr val="000000"/>
                </a:solidFill>
                <a:latin typeface="Times New Roman"/>
                <a:cs typeface="Calibri" panose="020F0502020204030204"/>
              </a:rPr>
              <a:t>Presented By: </a:t>
            </a:r>
            <a:r>
              <a:rPr lang="en-US" b="1" dirty="0">
                <a:solidFill>
                  <a:srgbClr val="000000"/>
                </a:solidFill>
                <a:latin typeface="Times New Roman"/>
                <a:cs typeface="Calibri" panose="020F0502020204030204"/>
              </a:rPr>
              <a:t>Rida Batool</a:t>
            </a:r>
            <a:r>
              <a:rPr lang="en-US" dirty="0">
                <a:solidFill>
                  <a:srgbClr val="000000"/>
                </a:solidFill>
                <a:latin typeface="Times New Roman"/>
                <a:cs typeface="Calibri" panose="020F0502020204030204"/>
              </a:rPr>
              <a:t> </a:t>
            </a:r>
            <a:r>
              <a:rPr lang="en-US" sz="1800" dirty="0">
                <a:solidFill>
                  <a:srgbClr val="000000"/>
                </a:solidFill>
                <a:latin typeface="Times New Roman"/>
                <a:cs typeface="Calibri" panose="020F0502020204030204"/>
              </a:rPr>
              <a:t>(009)</a:t>
            </a:r>
            <a:r>
              <a:rPr lang="en-US" dirty="0">
                <a:solidFill>
                  <a:srgbClr val="000000"/>
                </a:solidFill>
                <a:latin typeface="Times New Roman"/>
                <a:cs typeface="Calibri" panose="020F0502020204030204"/>
              </a:rPr>
              <a:t>                    Course Instructor: </a:t>
            </a:r>
            <a:r>
              <a:rPr lang="en-US" b="1" dirty="0">
                <a:solidFill>
                  <a:srgbClr val="000000"/>
                </a:solidFill>
                <a:latin typeface="Times New Roman"/>
                <a:cs typeface="Calibri" panose="020F0502020204030204"/>
              </a:rPr>
              <a:t>Dr. </a:t>
            </a:r>
            <a:r>
              <a:rPr lang="en-US" b="1" dirty="0" err="1">
                <a:solidFill>
                  <a:srgbClr val="000000"/>
                </a:solidFill>
                <a:latin typeface="Times New Roman"/>
                <a:cs typeface="Calibri" panose="020F0502020204030204"/>
              </a:rPr>
              <a:t>Sumbal</a:t>
            </a:r>
            <a:r>
              <a:rPr lang="en-US" b="1" dirty="0">
                <a:solidFill>
                  <a:srgbClr val="000000"/>
                </a:solidFill>
                <a:latin typeface="Times New Roman"/>
                <a:cs typeface="Calibri" panose="020F0502020204030204"/>
              </a:rPr>
              <a:t> Nazir</a:t>
            </a:r>
          </a:p>
          <a:p>
            <a:pPr>
              <a:lnSpc>
                <a:spcPct val="200000"/>
              </a:lnSpc>
            </a:pPr>
            <a:r>
              <a:rPr lang="en-US" dirty="0">
                <a:solidFill>
                  <a:srgbClr val="000000"/>
                </a:solidFill>
                <a:latin typeface="Times New Roman"/>
                <a:cs typeface="Calibri" panose="020F0502020204030204"/>
              </a:rPr>
              <a:t>Subject: </a:t>
            </a:r>
            <a:r>
              <a:rPr lang="en-US" b="1" dirty="0">
                <a:solidFill>
                  <a:srgbClr val="000000"/>
                </a:solidFill>
                <a:latin typeface="Times New Roman"/>
                <a:cs typeface="Calibri" panose="020F0502020204030204"/>
              </a:rPr>
              <a:t>Advance Analytical Techniques</a:t>
            </a:r>
          </a:p>
        </p:txBody>
      </p:sp>
      <p:sp>
        <p:nvSpPr>
          <p:cNvPr id="8" name="Subtitle 2">
            <a:extLst>
              <a:ext uri="{FF2B5EF4-FFF2-40B4-BE49-F238E27FC236}">
                <a16:creationId xmlns:a16="http://schemas.microsoft.com/office/drawing/2014/main" id="{30E992A4-3FC9-0F0F-339A-8709D1FE57EB}"/>
              </a:ext>
            </a:extLst>
          </p:cNvPr>
          <p:cNvSpPr txBox="1">
            <a:spLocks/>
          </p:cNvSpPr>
          <p:nvPr/>
        </p:nvSpPr>
        <p:spPr>
          <a:xfrm>
            <a:off x="2895600" y="5090876"/>
            <a:ext cx="6400800" cy="354503"/>
          </a:xfrm>
          <a:prstGeom prst="rect">
            <a:avLst/>
          </a:prstGeom>
        </p:spPr>
        <p:txBody>
          <a:bodyPr vert="horz" lIns="91440" tIns="45720" rIns="91440" bIns="45720" rtlCol="0" anchor="t">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rgbClr val="000000"/>
                </a:solidFill>
                <a:latin typeface="Times New Roman"/>
                <a:cs typeface="Calibri" panose="020F0502020204030204"/>
              </a:rPr>
              <a:t>School of Zoology</a:t>
            </a:r>
          </a:p>
        </p:txBody>
      </p:sp>
      <p:sp>
        <p:nvSpPr>
          <p:cNvPr id="9" name="Subtitle 2">
            <a:extLst>
              <a:ext uri="{FF2B5EF4-FFF2-40B4-BE49-F238E27FC236}">
                <a16:creationId xmlns:a16="http://schemas.microsoft.com/office/drawing/2014/main" id="{6FD04917-10DB-E44C-2150-CA7878B8C474}"/>
              </a:ext>
            </a:extLst>
          </p:cNvPr>
          <p:cNvSpPr txBox="1">
            <a:spLocks/>
          </p:cNvSpPr>
          <p:nvPr/>
        </p:nvSpPr>
        <p:spPr>
          <a:xfrm>
            <a:off x="3552101" y="5559795"/>
            <a:ext cx="5087813" cy="542070"/>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798" b="1" dirty="0">
                <a:solidFill>
                  <a:srgbClr val="000000"/>
                </a:solidFill>
                <a:latin typeface="Times New Roman"/>
                <a:cs typeface="Calibri" panose="020F0502020204030204"/>
              </a:rPr>
              <a:t>Minhaj University Lahore</a:t>
            </a:r>
          </a:p>
        </p:txBody>
      </p:sp>
      <p:pic>
        <p:nvPicPr>
          <p:cNvPr id="6146" name="Picture 2" descr="Bismillah Arabic PNG Transparent Images Free Download | Vector Files |  Pngtree">
            <a:extLst>
              <a:ext uri="{FF2B5EF4-FFF2-40B4-BE49-F238E27FC236}">
                <a16:creationId xmlns:a16="http://schemas.microsoft.com/office/drawing/2014/main" id="{3C979BEA-3814-FDF8-716D-1C2B5E7616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8618" y="165821"/>
            <a:ext cx="3354764" cy="838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523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44A20-1047-CA87-5FBA-9EE1E6AE1A5E}"/>
              </a:ext>
            </a:extLst>
          </p:cNvPr>
          <p:cNvSpPr>
            <a:spLocks noGrp="1"/>
          </p:cNvSpPr>
          <p:nvPr>
            <p:ph type="title"/>
          </p:nvPr>
        </p:nvSpPr>
        <p:spPr/>
        <p:txBody>
          <a:bodyPr/>
          <a:lstStyle/>
          <a:p>
            <a:r>
              <a:rPr lang="en-US" b="1" dirty="0"/>
              <a:t>What we will discuss…</a:t>
            </a:r>
          </a:p>
        </p:txBody>
      </p:sp>
      <p:sp>
        <p:nvSpPr>
          <p:cNvPr id="3" name="Content Placeholder 2">
            <a:extLst>
              <a:ext uri="{FF2B5EF4-FFF2-40B4-BE49-F238E27FC236}">
                <a16:creationId xmlns:a16="http://schemas.microsoft.com/office/drawing/2014/main" id="{CA486194-58E9-FF55-721B-6E668F934EA3}"/>
              </a:ext>
            </a:extLst>
          </p:cNvPr>
          <p:cNvSpPr>
            <a:spLocks noGrp="1"/>
          </p:cNvSpPr>
          <p:nvPr>
            <p:ph idx="1"/>
          </p:nvPr>
        </p:nvSpPr>
        <p:spPr/>
        <p:txBody>
          <a:bodyPr/>
          <a:lstStyle/>
          <a:p>
            <a:pPr>
              <a:lnSpc>
                <a:spcPct val="150000"/>
              </a:lnSpc>
            </a:pPr>
            <a:r>
              <a:rPr lang="en-US" dirty="0"/>
              <a:t>What is ELISA?</a:t>
            </a:r>
          </a:p>
          <a:p>
            <a:pPr>
              <a:lnSpc>
                <a:spcPct val="150000"/>
              </a:lnSpc>
            </a:pPr>
            <a:r>
              <a:rPr lang="en-US" dirty="0"/>
              <a:t>What are immunoassays?</a:t>
            </a:r>
          </a:p>
          <a:p>
            <a:pPr>
              <a:lnSpc>
                <a:spcPct val="150000"/>
              </a:lnSpc>
            </a:pPr>
            <a:r>
              <a:rPr lang="en-US" dirty="0"/>
              <a:t>What are the uses of ELISA?</a:t>
            </a:r>
          </a:p>
          <a:p>
            <a:pPr>
              <a:lnSpc>
                <a:spcPct val="150000"/>
              </a:lnSpc>
            </a:pPr>
            <a:r>
              <a:rPr lang="en-US" dirty="0"/>
              <a:t>What type of results do you get from ELISA?</a:t>
            </a:r>
          </a:p>
          <a:p>
            <a:pPr>
              <a:lnSpc>
                <a:spcPct val="150000"/>
              </a:lnSpc>
            </a:pPr>
            <a:r>
              <a:rPr lang="en-US" dirty="0"/>
              <a:t>How does the ELISA technique work?</a:t>
            </a:r>
          </a:p>
          <a:p>
            <a:pPr marL="0" indent="0">
              <a:lnSpc>
                <a:spcPct val="150000"/>
              </a:lnSpc>
              <a:buNone/>
            </a:pPr>
            <a:endParaRPr lang="en-US" dirty="0"/>
          </a:p>
        </p:txBody>
      </p:sp>
    </p:spTree>
    <p:extLst>
      <p:ext uri="{BB962C8B-B14F-4D97-AF65-F5344CB8AC3E}">
        <p14:creationId xmlns:p14="http://schemas.microsoft.com/office/powerpoint/2010/main" val="1517546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0839B-56BE-A8E1-A2A1-405D354DC3DA}"/>
              </a:ext>
            </a:extLst>
          </p:cNvPr>
          <p:cNvSpPr>
            <a:spLocks noGrp="1"/>
          </p:cNvSpPr>
          <p:nvPr>
            <p:ph type="title"/>
          </p:nvPr>
        </p:nvSpPr>
        <p:spPr/>
        <p:txBody>
          <a:bodyPr/>
          <a:lstStyle/>
          <a:p>
            <a:r>
              <a:rPr lang="en-US" b="1" dirty="0"/>
              <a:t>What is ELISA?</a:t>
            </a:r>
          </a:p>
        </p:txBody>
      </p:sp>
      <p:sp>
        <p:nvSpPr>
          <p:cNvPr id="3" name="Content Placeholder 2">
            <a:extLst>
              <a:ext uri="{FF2B5EF4-FFF2-40B4-BE49-F238E27FC236}">
                <a16:creationId xmlns:a16="http://schemas.microsoft.com/office/drawing/2014/main" id="{2BCFA22D-D15E-3A90-E6DC-55C87EA623C5}"/>
              </a:ext>
            </a:extLst>
          </p:cNvPr>
          <p:cNvSpPr>
            <a:spLocks noGrp="1"/>
          </p:cNvSpPr>
          <p:nvPr>
            <p:ph idx="1"/>
          </p:nvPr>
        </p:nvSpPr>
        <p:spPr>
          <a:xfrm>
            <a:off x="838200" y="1690688"/>
            <a:ext cx="10866120" cy="4351338"/>
          </a:xfrm>
        </p:spPr>
        <p:txBody>
          <a:bodyPr>
            <a:normAutofit/>
          </a:bodyPr>
          <a:lstStyle/>
          <a:p>
            <a:pPr marL="0" indent="0" algn="ctr">
              <a:lnSpc>
                <a:spcPct val="150000"/>
              </a:lnSpc>
              <a:buNone/>
            </a:pPr>
            <a:r>
              <a:rPr lang="en-US" dirty="0"/>
              <a:t>“ELISA” stands for “</a:t>
            </a:r>
            <a:r>
              <a:rPr lang="en-US" b="1" dirty="0"/>
              <a:t>enzyme-linked immunosorbent assay</a:t>
            </a:r>
            <a:r>
              <a:rPr lang="en-US" dirty="0"/>
              <a:t>.” Another name for it is an EIA test.</a:t>
            </a:r>
          </a:p>
          <a:p>
            <a:pPr marL="0" indent="0" algn="just">
              <a:lnSpc>
                <a:spcPct val="150000"/>
              </a:lnSpc>
              <a:buNone/>
            </a:pPr>
            <a:r>
              <a:rPr lang="en-US" b="1" dirty="0"/>
              <a:t>ELISA</a:t>
            </a:r>
            <a:r>
              <a:rPr lang="en-US" dirty="0"/>
              <a:t> is a common </a:t>
            </a:r>
            <a:r>
              <a:rPr lang="en-US" b="1" dirty="0"/>
              <a:t>laboratory testing technique </a:t>
            </a:r>
            <a:r>
              <a:rPr lang="en-US" dirty="0"/>
              <a:t>that </a:t>
            </a:r>
            <a:r>
              <a:rPr lang="en-US" b="1" dirty="0"/>
              <a:t>detects</a:t>
            </a:r>
            <a:r>
              <a:rPr lang="en-US" dirty="0"/>
              <a:t> and </a:t>
            </a:r>
            <a:r>
              <a:rPr lang="en-US" b="1" dirty="0"/>
              <a:t>counts</a:t>
            </a:r>
            <a:r>
              <a:rPr lang="en-US" dirty="0"/>
              <a:t> certain </a:t>
            </a:r>
            <a:r>
              <a:rPr lang="en-US" b="1" dirty="0"/>
              <a:t>antibodies</a:t>
            </a:r>
            <a:r>
              <a:rPr lang="en-US" dirty="0"/>
              <a:t>, </a:t>
            </a:r>
            <a:r>
              <a:rPr lang="en-US" b="1" dirty="0"/>
              <a:t>antigens</a:t>
            </a:r>
            <a:r>
              <a:rPr lang="en-US" dirty="0"/>
              <a:t>, </a:t>
            </a:r>
            <a:r>
              <a:rPr lang="en-US" b="1" dirty="0"/>
              <a:t>proteins</a:t>
            </a:r>
            <a:r>
              <a:rPr lang="en-US" dirty="0"/>
              <a:t> and </a:t>
            </a:r>
            <a:r>
              <a:rPr lang="en-US" b="1" dirty="0"/>
              <a:t>hormones</a:t>
            </a:r>
            <a:r>
              <a:rPr lang="en-US" dirty="0"/>
              <a:t> in bodily fluid samples. This includes blood, plasma, pee, saliva (spit) and cerebrospinal fluid (CSF). </a:t>
            </a:r>
          </a:p>
        </p:txBody>
      </p:sp>
    </p:spTree>
    <p:extLst>
      <p:ext uri="{BB962C8B-B14F-4D97-AF65-F5344CB8AC3E}">
        <p14:creationId xmlns:p14="http://schemas.microsoft.com/office/powerpoint/2010/main" val="2121317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2EA01-5CB4-8BF0-5D4C-88C1B95D64DF}"/>
              </a:ext>
            </a:extLst>
          </p:cNvPr>
          <p:cNvSpPr>
            <a:spLocks noGrp="1"/>
          </p:cNvSpPr>
          <p:nvPr>
            <p:ph type="title"/>
          </p:nvPr>
        </p:nvSpPr>
        <p:spPr>
          <a:xfrm>
            <a:off x="716280" y="215900"/>
            <a:ext cx="5257800" cy="930274"/>
          </a:xfrm>
        </p:spPr>
        <p:txBody>
          <a:bodyPr>
            <a:normAutofit/>
          </a:bodyPr>
          <a:lstStyle/>
          <a:p>
            <a:r>
              <a:rPr lang="en-US" sz="3600" b="1" dirty="0"/>
              <a:t>Continue</a:t>
            </a:r>
            <a:r>
              <a:rPr lang="en-US" b="1" dirty="0"/>
              <a:t>…</a:t>
            </a:r>
          </a:p>
        </p:txBody>
      </p:sp>
      <p:sp>
        <p:nvSpPr>
          <p:cNvPr id="3" name="Content Placeholder 2">
            <a:extLst>
              <a:ext uri="{FF2B5EF4-FFF2-40B4-BE49-F238E27FC236}">
                <a16:creationId xmlns:a16="http://schemas.microsoft.com/office/drawing/2014/main" id="{0035D9CF-9C5E-F86D-B433-D96E782D2B28}"/>
              </a:ext>
            </a:extLst>
          </p:cNvPr>
          <p:cNvSpPr>
            <a:spLocks noGrp="1"/>
          </p:cNvSpPr>
          <p:nvPr>
            <p:ph idx="1"/>
          </p:nvPr>
        </p:nvSpPr>
        <p:spPr>
          <a:xfrm>
            <a:off x="716280" y="1383664"/>
            <a:ext cx="10820400" cy="4819015"/>
          </a:xfrm>
        </p:spPr>
        <p:txBody>
          <a:bodyPr>
            <a:normAutofit/>
          </a:bodyPr>
          <a:lstStyle/>
          <a:p>
            <a:pPr marL="0" indent="0" algn="just">
              <a:lnSpc>
                <a:spcPct val="150000"/>
              </a:lnSpc>
              <a:buNone/>
            </a:pPr>
            <a:r>
              <a:rPr lang="en-US" dirty="0"/>
              <a:t>Researchers consider ELISA to be the </a:t>
            </a:r>
            <a:r>
              <a:rPr lang="en-US" b="1" dirty="0"/>
              <a:t>gold</a:t>
            </a:r>
            <a:r>
              <a:rPr lang="en-US" dirty="0"/>
              <a:t> </a:t>
            </a:r>
            <a:r>
              <a:rPr lang="en-US" b="1" dirty="0"/>
              <a:t>standard of immunoassays</a:t>
            </a:r>
            <a:r>
              <a:rPr lang="en-US" dirty="0"/>
              <a:t>. Tests that use ELISA can help </a:t>
            </a:r>
            <a:r>
              <a:rPr lang="en-US" b="1" dirty="0"/>
              <a:t>diagnose a wide range of conditions</a:t>
            </a:r>
            <a:r>
              <a:rPr lang="en-US" dirty="0"/>
              <a:t>, from </a:t>
            </a:r>
            <a:r>
              <a:rPr lang="en-US" b="1" dirty="0"/>
              <a:t>bacterial and viral infections </a:t>
            </a:r>
            <a:r>
              <a:rPr lang="en-US" dirty="0"/>
              <a:t>(like Lyme disease and HIV) to </a:t>
            </a:r>
            <a:r>
              <a:rPr lang="en-US" b="1" dirty="0"/>
              <a:t>endocrine conditions</a:t>
            </a:r>
            <a:r>
              <a:rPr lang="en-US" dirty="0"/>
              <a:t>, like thyroid disease.</a:t>
            </a:r>
          </a:p>
          <a:p>
            <a:pPr marL="0" indent="0" algn="just">
              <a:lnSpc>
                <a:spcPct val="150000"/>
              </a:lnSpc>
              <a:buNone/>
            </a:pPr>
            <a:r>
              <a:rPr lang="en-US" b="1" dirty="0"/>
              <a:t>Home pregnancy tests </a:t>
            </a:r>
            <a:r>
              <a:rPr lang="en-US" dirty="0"/>
              <a:t>are even based on the ELISA technique. They detect the presence of a hormone called </a:t>
            </a:r>
            <a:r>
              <a:rPr lang="en-US" b="1" dirty="0"/>
              <a:t>human chorionic gonadotrophin </a:t>
            </a:r>
            <a:r>
              <a:rPr lang="en-US" dirty="0"/>
              <a:t>(HCG) — the “</a:t>
            </a:r>
            <a:r>
              <a:rPr lang="en-US" b="1" dirty="0"/>
              <a:t>pregnancy hormone</a:t>
            </a:r>
            <a:r>
              <a:rPr lang="en-US" dirty="0"/>
              <a:t>.”</a:t>
            </a:r>
          </a:p>
        </p:txBody>
      </p:sp>
    </p:spTree>
    <p:extLst>
      <p:ext uri="{BB962C8B-B14F-4D97-AF65-F5344CB8AC3E}">
        <p14:creationId xmlns:p14="http://schemas.microsoft.com/office/powerpoint/2010/main" val="641217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EA057-8AB0-58B2-9A85-6EF1284DB125}"/>
              </a:ext>
            </a:extLst>
          </p:cNvPr>
          <p:cNvSpPr>
            <a:spLocks noGrp="1"/>
          </p:cNvSpPr>
          <p:nvPr>
            <p:ph type="title"/>
          </p:nvPr>
        </p:nvSpPr>
        <p:spPr/>
        <p:txBody>
          <a:bodyPr/>
          <a:lstStyle/>
          <a:p>
            <a:r>
              <a:rPr lang="en-US" b="1" dirty="0"/>
              <a:t>What are immunoassays?</a:t>
            </a:r>
          </a:p>
        </p:txBody>
      </p:sp>
      <p:sp>
        <p:nvSpPr>
          <p:cNvPr id="3" name="Content Placeholder 2">
            <a:extLst>
              <a:ext uri="{FF2B5EF4-FFF2-40B4-BE49-F238E27FC236}">
                <a16:creationId xmlns:a16="http://schemas.microsoft.com/office/drawing/2014/main" id="{A71B44B9-8AF8-56F8-C41D-9158D4F7B63C}"/>
              </a:ext>
            </a:extLst>
          </p:cNvPr>
          <p:cNvSpPr>
            <a:spLocks noGrp="1"/>
          </p:cNvSpPr>
          <p:nvPr>
            <p:ph idx="1"/>
          </p:nvPr>
        </p:nvSpPr>
        <p:spPr>
          <a:xfrm>
            <a:off x="838200" y="1444624"/>
            <a:ext cx="10942320" cy="4895215"/>
          </a:xfrm>
        </p:spPr>
        <p:txBody>
          <a:bodyPr>
            <a:normAutofit fontScale="92500" lnSpcReduction="10000"/>
          </a:bodyPr>
          <a:lstStyle/>
          <a:p>
            <a:pPr marL="0" indent="0" algn="just">
              <a:lnSpc>
                <a:spcPct val="150000"/>
              </a:lnSpc>
              <a:buNone/>
            </a:pPr>
            <a:r>
              <a:rPr lang="en-US" b="1" dirty="0"/>
              <a:t>Immunoassays are tests </a:t>
            </a:r>
            <a:r>
              <a:rPr lang="en-US" dirty="0"/>
              <a:t>that rely on the </a:t>
            </a:r>
            <a:r>
              <a:rPr lang="en-US" b="1" dirty="0"/>
              <a:t>interaction between antigens and antibodies </a:t>
            </a:r>
            <a:r>
              <a:rPr lang="en-US" dirty="0"/>
              <a:t>in a laboratory setting (not in your body).</a:t>
            </a:r>
          </a:p>
          <a:p>
            <a:pPr marL="0" indent="0" algn="just">
              <a:lnSpc>
                <a:spcPct val="150000"/>
              </a:lnSpc>
              <a:buNone/>
            </a:pPr>
            <a:r>
              <a:rPr lang="en-US" dirty="0"/>
              <a:t>To understand how </a:t>
            </a:r>
            <a:r>
              <a:rPr lang="en-US" b="1" dirty="0"/>
              <a:t>immunoassays work</a:t>
            </a:r>
            <a:r>
              <a:rPr lang="en-US" dirty="0"/>
              <a:t>, it </a:t>
            </a:r>
            <a:r>
              <a:rPr lang="en-US" b="1" dirty="0"/>
              <a:t>helps to understand </a:t>
            </a:r>
            <a:r>
              <a:rPr lang="en-US" dirty="0"/>
              <a:t>how </a:t>
            </a:r>
            <a:r>
              <a:rPr lang="en-US" b="1" dirty="0"/>
              <a:t>antibodies and antigens function in your body</a:t>
            </a:r>
            <a:r>
              <a:rPr lang="en-US" dirty="0"/>
              <a:t>. </a:t>
            </a:r>
            <a:r>
              <a:rPr lang="en-US" b="1" dirty="0"/>
              <a:t>Antibodies</a:t>
            </a:r>
            <a:r>
              <a:rPr lang="en-US" dirty="0"/>
              <a:t> are substances your immune system makes that bind to unwanted substances in order to eliminate them from your body. An </a:t>
            </a:r>
            <a:r>
              <a:rPr lang="en-US" b="1" dirty="0"/>
              <a:t>antigen</a:t>
            </a:r>
            <a:r>
              <a:rPr lang="en-US" dirty="0"/>
              <a:t> is any kind of marker that antibodies can recognize. Antigens are usually proteins or sugars found on the surfaces of cells or viruses.</a:t>
            </a:r>
          </a:p>
        </p:txBody>
      </p:sp>
    </p:spTree>
    <p:extLst>
      <p:ext uri="{BB962C8B-B14F-4D97-AF65-F5344CB8AC3E}">
        <p14:creationId xmlns:p14="http://schemas.microsoft.com/office/powerpoint/2010/main" val="3241569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FD352-5E08-3FE8-0F95-CCA8A8769D52}"/>
              </a:ext>
            </a:extLst>
          </p:cNvPr>
          <p:cNvSpPr>
            <a:spLocks noGrp="1"/>
          </p:cNvSpPr>
          <p:nvPr>
            <p:ph type="title"/>
          </p:nvPr>
        </p:nvSpPr>
        <p:spPr>
          <a:xfrm>
            <a:off x="838200" y="167005"/>
            <a:ext cx="2468880" cy="808355"/>
          </a:xfrm>
        </p:spPr>
        <p:txBody>
          <a:bodyPr>
            <a:normAutofit/>
          </a:bodyPr>
          <a:lstStyle/>
          <a:p>
            <a:r>
              <a:rPr lang="en-US" sz="3600" b="1" dirty="0"/>
              <a:t>Continue…</a:t>
            </a:r>
          </a:p>
        </p:txBody>
      </p:sp>
      <p:sp>
        <p:nvSpPr>
          <p:cNvPr id="3" name="Content Placeholder 2">
            <a:extLst>
              <a:ext uri="{FF2B5EF4-FFF2-40B4-BE49-F238E27FC236}">
                <a16:creationId xmlns:a16="http://schemas.microsoft.com/office/drawing/2014/main" id="{D2C2C119-ACCF-FF94-5E45-049B12AC9389}"/>
              </a:ext>
            </a:extLst>
          </p:cNvPr>
          <p:cNvSpPr>
            <a:spLocks noGrp="1"/>
          </p:cNvSpPr>
          <p:nvPr>
            <p:ph idx="1"/>
          </p:nvPr>
        </p:nvSpPr>
        <p:spPr>
          <a:xfrm>
            <a:off x="853440" y="975359"/>
            <a:ext cx="10896600" cy="5715635"/>
          </a:xfrm>
        </p:spPr>
        <p:txBody>
          <a:bodyPr>
            <a:normAutofit/>
          </a:bodyPr>
          <a:lstStyle/>
          <a:p>
            <a:pPr marL="0" indent="0" algn="just">
              <a:lnSpc>
                <a:spcPct val="170000"/>
              </a:lnSpc>
              <a:buNone/>
            </a:pPr>
            <a:r>
              <a:rPr lang="en-US" sz="2400" dirty="0"/>
              <a:t>Antigens exist on several types of cells, including</a:t>
            </a:r>
          </a:p>
          <a:p>
            <a:pPr lvl="1" algn="just">
              <a:lnSpc>
                <a:spcPct val="120000"/>
              </a:lnSpc>
            </a:pPr>
            <a:r>
              <a:rPr lang="en-US" sz="2000" dirty="0"/>
              <a:t>Viruses.</a:t>
            </a:r>
          </a:p>
          <a:p>
            <a:pPr lvl="1" algn="just">
              <a:lnSpc>
                <a:spcPct val="120000"/>
              </a:lnSpc>
            </a:pPr>
            <a:r>
              <a:rPr lang="en-US" sz="2000" dirty="0"/>
              <a:t>Bacteria.</a:t>
            </a:r>
          </a:p>
          <a:p>
            <a:pPr lvl="1" algn="just">
              <a:lnSpc>
                <a:spcPct val="120000"/>
              </a:lnSpc>
            </a:pPr>
            <a:r>
              <a:rPr lang="en-US" sz="2000" dirty="0"/>
              <a:t>Allergens, like food allergens or airborne allergens.</a:t>
            </a:r>
          </a:p>
          <a:p>
            <a:pPr lvl="1" algn="just">
              <a:lnSpc>
                <a:spcPct val="120000"/>
              </a:lnSpc>
            </a:pPr>
            <a:r>
              <a:rPr lang="en-US" sz="2000" dirty="0"/>
              <a:t>Parasites.</a:t>
            </a:r>
          </a:p>
          <a:p>
            <a:pPr lvl="1" algn="just">
              <a:lnSpc>
                <a:spcPct val="120000"/>
              </a:lnSpc>
            </a:pPr>
            <a:r>
              <a:rPr lang="en-US" sz="2000" dirty="0"/>
              <a:t>Proteins.</a:t>
            </a:r>
          </a:p>
          <a:p>
            <a:pPr lvl="1" algn="just">
              <a:lnSpc>
                <a:spcPct val="120000"/>
              </a:lnSpc>
            </a:pPr>
            <a:r>
              <a:rPr lang="en-US" sz="2000" dirty="0"/>
              <a:t>Tumor cells.</a:t>
            </a:r>
          </a:p>
          <a:p>
            <a:pPr lvl="1" algn="just">
              <a:lnSpc>
                <a:spcPct val="120000"/>
              </a:lnSpc>
            </a:pPr>
            <a:r>
              <a:rPr lang="en-US" sz="2000" dirty="0"/>
              <a:t>Normal cells in your body.</a:t>
            </a:r>
          </a:p>
          <a:p>
            <a:pPr marL="0" indent="0" algn="just">
              <a:lnSpc>
                <a:spcPct val="170000"/>
              </a:lnSpc>
              <a:buNone/>
            </a:pPr>
            <a:r>
              <a:rPr lang="en-US" sz="2400" dirty="0"/>
              <a:t>For immunoassays, laboratory scientists use antigens or antibodies they have in the lab to check for the presence of certain antigens or antibodies in your bodily fluid sample (like a blood sample).</a:t>
            </a:r>
          </a:p>
        </p:txBody>
      </p:sp>
    </p:spTree>
    <p:extLst>
      <p:ext uri="{BB962C8B-B14F-4D97-AF65-F5344CB8AC3E}">
        <p14:creationId xmlns:p14="http://schemas.microsoft.com/office/powerpoint/2010/main" val="3180120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85E3-0EF9-B0C8-04ED-02B17860C53A}"/>
              </a:ext>
            </a:extLst>
          </p:cNvPr>
          <p:cNvSpPr>
            <a:spLocks noGrp="1"/>
          </p:cNvSpPr>
          <p:nvPr>
            <p:ph type="title"/>
          </p:nvPr>
        </p:nvSpPr>
        <p:spPr/>
        <p:txBody>
          <a:bodyPr>
            <a:normAutofit/>
          </a:bodyPr>
          <a:lstStyle/>
          <a:p>
            <a:r>
              <a:rPr lang="en-US" b="1" i="0" dirty="0">
                <a:solidFill>
                  <a:srgbClr val="363636"/>
                </a:solidFill>
                <a:effectLst/>
              </a:rPr>
              <a:t>What are the uses of ELISA?</a:t>
            </a:r>
            <a:endParaRPr lang="en-US" b="1" dirty="0"/>
          </a:p>
        </p:txBody>
      </p:sp>
      <p:sp>
        <p:nvSpPr>
          <p:cNvPr id="3" name="Content Placeholder 2">
            <a:extLst>
              <a:ext uri="{FF2B5EF4-FFF2-40B4-BE49-F238E27FC236}">
                <a16:creationId xmlns:a16="http://schemas.microsoft.com/office/drawing/2014/main" id="{D0EE562D-3C02-8063-EEFC-53CBD9ED947D}"/>
              </a:ext>
            </a:extLst>
          </p:cNvPr>
          <p:cNvSpPr>
            <a:spLocks noGrp="1"/>
          </p:cNvSpPr>
          <p:nvPr>
            <p:ph idx="1"/>
          </p:nvPr>
        </p:nvSpPr>
        <p:spPr>
          <a:xfrm>
            <a:off x="838200" y="1901825"/>
            <a:ext cx="10515600" cy="4351338"/>
          </a:xfrm>
        </p:spPr>
        <p:txBody>
          <a:bodyPr>
            <a:normAutofit/>
          </a:bodyPr>
          <a:lstStyle/>
          <a:p>
            <a:pPr marL="0" indent="0" algn="just">
              <a:lnSpc>
                <a:spcPct val="150000"/>
              </a:lnSpc>
              <a:buNone/>
            </a:pPr>
            <a:r>
              <a:rPr lang="en-US" sz="2600" dirty="0"/>
              <a:t>Several medical tests involve the use of the ELISA technique. But it’s important to note that your </a:t>
            </a:r>
            <a:r>
              <a:rPr lang="en-US" sz="2600" b="1" dirty="0"/>
              <a:t>laboratory test results won’t say “ELISA test</a:t>
            </a:r>
            <a:r>
              <a:rPr lang="en-US" sz="2600" dirty="0"/>
              <a:t>.” This is </a:t>
            </a:r>
            <a:r>
              <a:rPr lang="en-US" sz="2600" b="1" dirty="0"/>
              <a:t>because ELISA is a laboratory technique</a:t>
            </a:r>
            <a:r>
              <a:rPr lang="en-US" sz="2600" dirty="0"/>
              <a:t>, and there are </a:t>
            </a:r>
            <a:r>
              <a:rPr lang="en-US" sz="2600" b="1" dirty="0"/>
              <a:t>countless variations of the tests </a:t>
            </a:r>
            <a:r>
              <a:rPr lang="en-US" sz="2600" dirty="0"/>
              <a:t>that use it.</a:t>
            </a:r>
          </a:p>
        </p:txBody>
      </p:sp>
    </p:spTree>
    <p:extLst>
      <p:ext uri="{BB962C8B-B14F-4D97-AF65-F5344CB8AC3E}">
        <p14:creationId xmlns:p14="http://schemas.microsoft.com/office/powerpoint/2010/main" val="270246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F6F6BD-9563-1353-6CC1-A866FD899C30}"/>
              </a:ext>
            </a:extLst>
          </p:cNvPr>
          <p:cNvSpPr>
            <a:spLocks noGrp="1"/>
          </p:cNvSpPr>
          <p:nvPr>
            <p:ph idx="1"/>
          </p:nvPr>
        </p:nvSpPr>
        <p:spPr>
          <a:xfrm>
            <a:off x="579120" y="883920"/>
            <a:ext cx="11369040" cy="5761355"/>
          </a:xfrm>
        </p:spPr>
        <p:txBody>
          <a:bodyPr>
            <a:normAutofit/>
          </a:bodyPr>
          <a:lstStyle/>
          <a:p>
            <a:pPr marL="0" indent="0" algn="just">
              <a:lnSpc>
                <a:spcPct val="160000"/>
              </a:lnSpc>
              <a:buNone/>
            </a:pPr>
            <a:r>
              <a:rPr lang="en-US" sz="2400" b="1" dirty="0"/>
              <a:t>One common use of the ELISA technique is to detect and measure</a:t>
            </a:r>
            <a:r>
              <a:rPr lang="en-US" sz="2400" dirty="0"/>
              <a:t> antibodies, including:</a:t>
            </a:r>
          </a:p>
          <a:p>
            <a:pPr algn="just">
              <a:lnSpc>
                <a:spcPct val="160000"/>
              </a:lnSpc>
            </a:pPr>
            <a:r>
              <a:rPr lang="en-US" sz="2400" b="1" dirty="0"/>
              <a:t>Antibodies against bacterial, viral or fungal infections: </a:t>
            </a:r>
            <a:r>
              <a:rPr lang="en-US" sz="2400" dirty="0"/>
              <a:t>Examples of bacterial infections include Lyme disease, brucellosis and syphilis. Examples of viral infections include HIV and hepatitis A, B and C. An example of a fungal infection is a yeast infection (candida).</a:t>
            </a:r>
          </a:p>
          <a:p>
            <a:pPr algn="just">
              <a:lnSpc>
                <a:spcPct val="160000"/>
              </a:lnSpc>
            </a:pPr>
            <a:r>
              <a:rPr lang="en-US" sz="2400" b="1" dirty="0"/>
              <a:t>Autoantibodies:</a:t>
            </a:r>
            <a:r>
              <a:rPr lang="en-US" sz="2400" dirty="0"/>
              <a:t> These are antibodies your immune system uses </a:t>
            </a:r>
            <a:r>
              <a:rPr lang="en-US" sz="2400" b="1" dirty="0"/>
              <a:t>to destroy your own cells</a:t>
            </a:r>
            <a:r>
              <a:rPr lang="en-US" sz="2400" dirty="0"/>
              <a:t>. Many </a:t>
            </a:r>
            <a:r>
              <a:rPr lang="en-US" sz="2400" b="1" dirty="0"/>
              <a:t>autoimmune diseases result </a:t>
            </a:r>
            <a:r>
              <a:rPr lang="en-US" sz="2400" dirty="0"/>
              <a:t>from </a:t>
            </a:r>
            <a:r>
              <a:rPr lang="en-US" sz="2400" b="1" dirty="0"/>
              <a:t>autoantibody attacks</a:t>
            </a:r>
            <a:r>
              <a:rPr lang="en-US" sz="2400" dirty="0"/>
              <a:t>. Type 1 diabetes is an example of this. Your body sends out autoantibodies to destroy the insulin-producing cells in your pancreas for unknown reasons.</a:t>
            </a:r>
          </a:p>
        </p:txBody>
      </p:sp>
      <p:sp>
        <p:nvSpPr>
          <p:cNvPr id="4" name="Title 1">
            <a:extLst>
              <a:ext uri="{FF2B5EF4-FFF2-40B4-BE49-F238E27FC236}">
                <a16:creationId xmlns:a16="http://schemas.microsoft.com/office/drawing/2014/main" id="{C4B2389F-4559-0C17-6870-77EA22DCB6FE}"/>
              </a:ext>
            </a:extLst>
          </p:cNvPr>
          <p:cNvSpPr>
            <a:spLocks noGrp="1"/>
          </p:cNvSpPr>
          <p:nvPr>
            <p:ph type="title"/>
          </p:nvPr>
        </p:nvSpPr>
        <p:spPr>
          <a:xfrm>
            <a:off x="678180" y="212725"/>
            <a:ext cx="2377440" cy="671195"/>
          </a:xfrm>
        </p:spPr>
        <p:txBody>
          <a:bodyPr>
            <a:normAutofit/>
          </a:bodyPr>
          <a:lstStyle/>
          <a:p>
            <a:r>
              <a:rPr lang="en-US" sz="3600" b="1" dirty="0"/>
              <a:t>Continue…</a:t>
            </a:r>
          </a:p>
        </p:txBody>
      </p:sp>
    </p:spTree>
    <p:extLst>
      <p:ext uri="{BB962C8B-B14F-4D97-AF65-F5344CB8AC3E}">
        <p14:creationId xmlns:p14="http://schemas.microsoft.com/office/powerpoint/2010/main" val="2070211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5F294E-5D6C-077D-D40F-150557F6DC01}"/>
              </a:ext>
            </a:extLst>
          </p:cNvPr>
          <p:cNvSpPr>
            <a:spLocks noGrp="1"/>
          </p:cNvSpPr>
          <p:nvPr>
            <p:ph idx="1"/>
          </p:nvPr>
        </p:nvSpPr>
        <p:spPr>
          <a:xfrm>
            <a:off x="678180" y="1002664"/>
            <a:ext cx="11071860" cy="5337175"/>
          </a:xfrm>
        </p:spPr>
        <p:txBody>
          <a:bodyPr>
            <a:normAutofit/>
          </a:bodyPr>
          <a:lstStyle/>
          <a:p>
            <a:pPr marL="0" indent="0" algn="just">
              <a:lnSpc>
                <a:spcPct val="170000"/>
              </a:lnSpc>
              <a:buNone/>
            </a:pPr>
            <a:r>
              <a:rPr lang="en-US" sz="2400" dirty="0"/>
              <a:t>Other common uses of ELISA include:</a:t>
            </a:r>
          </a:p>
          <a:p>
            <a:pPr algn="just">
              <a:lnSpc>
                <a:spcPct val="170000"/>
              </a:lnSpc>
            </a:pPr>
            <a:r>
              <a:rPr lang="en-US" sz="2400" b="1" dirty="0"/>
              <a:t>Detecting and estimating hormone levels</a:t>
            </a:r>
            <a:r>
              <a:rPr lang="en-US" sz="2400" dirty="0"/>
              <a:t>, like human chorionic gonadotropin (HCG), follicle-stimulating hormone (FSH) and testosterone.</a:t>
            </a:r>
          </a:p>
          <a:p>
            <a:pPr algn="just">
              <a:lnSpc>
                <a:spcPct val="170000"/>
              </a:lnSpc>
            </a:pPr>
            <a:r>
              <a:rPr lang="en-US" sz="2400" b="1" dirty="0"/>
              <a:t>Tracking disease outbreaks in communities</a:t>
            </a:r>
            <a:r>
              <a:rPr lang="en-US" sz="2400" dirty="0"/>
              <a:t>, like chlamydia or influenza (the flu) outbreaks.</a:t>
            </a:r>
          </a:p>
          <a:p>
            <a:pPr algn="just">
              <a:lnSpc>
                <a:spcPct val="170000"/>
              </a:lnSpc>
            </a:pPr>
            <a:r>
              <a:rPr lang="en-US" sz="2400" b="1" dirty="0"/>
              <a:t>Screening blood donations for possible viral components</a:t>
            </a:r>
            <a:r>
              <a:rPr lang="en-US" sz="2400" dirty="0"/>
              <a:t>, like HIV.</a:t>
            </a:r>
          </a:p>
        </p:txBody>
      </p:sp>
      <p:sp>
        <p:nvSpPr>
          <p:cNvPr id="4" name="Title 1">
            <a:extLst>
              <a:ext uri="{FF2B5EF4-FFF2-40B4-BE49-F238E27FC236}">
                <a16:creationId xmlns:a16="http://schemas.microsoft.com/office/drawing/2014/main" id="{F41D5CFC-A2DB-B960-765C-1A38AFABBC93}"/>
              </a:ext>
            </a:extLst>
          </p:cNvPr>
          <p:cNvSpPr>
            <a:spLocks noGrp="1"/>
          </p:cNvSpPr>
          <p:nvPr>
            <p:ph type="title"/>
          </p:nvPr>
        </p:nvSpPr>
        <p:spPr>
          <a:xfrm>
            <a:off x="678180" y="212725"/>
            <a:ext cx="2377440" cy="671195"/>
          </a:xfrm>
        </p:spPr>
        <p:txBody>
          <a:bodyPr>
            <a:normAutofit/>
          </a:bodyPr>
          <a:lstStyle/>
          <a:p>
            <a:r>
              <a:rPr lang="en-US" sz="3600" b="1" dirty="0"/>
              <a:t>Continue…</a:t>
            </a:r>
          </a:p>
        </p:txBody>
      </p:sp>
    </p:spTree>
    <p:extLst>
      <p:ext uri="{BB962C8B-B14F-4D97-AF65-F5344CB8AC3E}">
        <p14:creationId xmlns:p14="http://schemas.microsoft.com/office/powerpoint/2010/main" val="3753889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871229-EDB5-BDB3-4B76-172DD418D2DB}"/>
              </a:ext>
            </a:extLst>
          </p:cNvPr>
          <p:cNvSpPr>
            <a:spLocks noGrp="1"/>
          </p:cNvSpPr>
          <p:nvPr>
            <p:ph idx="1"/>
          </p:nvPr>
        </p:nvSpPr>
        <p:spPr>
          <a:xfrm>
            <a:off x="678180" y="1253330"/>
            <a:ext cx="10873740" cy="5238909"/>
          </a:xfrm>
        </p:spPr>
        <p:txBody>
          <a:bodyPr>
            <a:normAutofit lnSpcReduction="10000"/>
          </a:bodyPr>
          <a:lstStyle/>
          <a:p>
            <a:pPr algn="just">
              <a:lnSpc>
                <a:spcPct val="170000"/>
              </a:lnSpc>
            </a:pPr>
            <a:r>
              <a:rPr lang="en-US" sz="2400" b="1" dirty="0"/>
              <a:t>Detecting nonmedical drug use</a:t>
            </a:r>
            <a:r>
              <a:rPr lang="en-US" sz="2400" dirty="0"/>
              <a:t>, like the presence of amphetamines or cocaine in your body. These are only screening tests.</a:t>
            </a:r>
          </a:p>
          <a:p>
            <a:pPr algn="just">
              <a:lnSpc>
                <a:spcPct val="170000"/>
              </a:lnSpc>
            </a:pPr>
            <a:r>
              <a:rPr lang="en-US" sz="2400" b="1" dirty="0"/>
              <a:t>Detecting and estimating the levels of tumor markers</a:t>
            </a:r>
            <a:r>
              <a:rPr lang="en-US" sz="2400" dirty="0"/>
              <a:t>. These are any substance in your body that provides information about cancer. One example is prostate-specific antigen (PSA) for prostate cancer.</a:t>
            </a:r>
          </a:p>
          <a:p>
            <a:pPr algn="just">
              <a:lnSpc>
                <a:spcPct val="170000"/>
              </a:lnSpc>
            </a:pPr>
            <a:r>
              <a:rPr lang="en-US" sz="2400" b="1" dirty="0"/>
              <a:t>Detecting dust and food allergies</a:t>
            </a:r>
            <a:r>
              <a:rPr lang="en-US" sz="2400" dirty="0"/>
              <a:t>.</a:t>
            </a:r>
          </a:p>
          <a:p>
            <a:pPr algn="just">
              <a:lnSpc>
                <a:spcPct val="170000"/>
              </a:lnSpc>
            </a:pPr>
            <a:r>
              <a:rPr lang="en-US" sz="2400" b="1" dirty="0"/>
              <a:t>Checking if you’ve received a vaccine for certain conditions</a:t>
            </a:r>
            <a:r>
              <a:rPr lang="en-US" sz="2400" dirty="0"/>
              <a:t>, like mumps and rubella.</a:t>
            </a:r>
          </a:p>
          <a:p>
            <a:pPr marL="0" indent="0">
              <a:buNone/>
            </a:pPr>
            <a:endParaRPr lang="en-US" sz="2400" dirty="0"/>
          </a:p>
        </p:txBody>
      </p:sp>
      <p:sp>
        <p:nvSpPr>
          <p:cNvPr id="4" name="Title 1">
            <a:extLst>
              <a:ext uri="{FF2B5EF4-FFF2-40B4-BE49-F238E27FC236}">
                <a16:creationId xmlns:a16="http://schemas.microsoft.com/office/drawing/2014/main" id="{AF936AEE-3825-8AA8-81A6-95A83BDE5A01}"/>
              </a:ext>
            </a:extLst>
          </p:cNvPr>
          <p:cNvSpPr>
            <a:spLocks noGrp="1"/>
          </p:cNvSpPr>
          <p:nvPr>
            <p:ph type="title"/>
          </p:nvPr>
        </p:nvSpPr>
        <p:spPr>
          <a:xfrm>
            <a:off x="678180" y="212725"/>
            <a:ext cx="2377440" cy="671195"/>
          </a:xfrm>
        </p:spPr>
        <p:txBody>
          <a:bodyPr>
            <a:normAutofit/>
          </a:bodyPr>
          <a:lstStyle/>
          <a:p>
            <a:r>
              <a:rPr lang="en-US" sz="3600" b="1" dirty="0"/>
              <a:t>Continue…</a:t>
            </a:r>
          </a:p>
        </p:txBody>
      </p:sp>
    </p:spTree>
    <p:extLst>
      <p:ext uri="{BB962C8B-B14F-4D97-AF65-F5344CB8AC3E}">
        <p14:creationId xmlns:p14="http://schemas.microsoft.com/office/powerpoint/2010/main" val="3336455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8BF0-1D6A-B964-BE19-A1FFD670291C}"/>
              </a:ext>
            </a:extLst>
          </p:cNvPr>
          <p:cNvSpPr>
            <a:spLocks noGrp="1"/>
          </p:cNvSpPr>
          <p:nvPr>
            <p:ph type="title"/>
          </p:nvPr>
        </p:nvSpPr>
        <p:spPr>
          <a:xfrm>
            <a:off x="426720" y="167005"/>
            <a:ext cx="9845040" cy="1036955"/>
          </a:xfrm>
        </p:spPr>
        <p:txBody>
          <a:bodyPr/>
          <a:lstStyle/>
          <a:p>
            <a:r>
              <a:rPr lang="en-US" b="1" dirty="0"/>
              <a:t>What type of results do you get from ELISA?</a:t>
            </a:r>
          </a:p>
        </p:txBody>
      </p:sp>
      <p:sp>
        <p:nvSpPr>
          <p:cNvPr id="3" name="Content Placeholder 2">
            <a:extLst>
              <a:ext uri="{FF2B5EF4-FFF2-40B4-BE49-F238E27FC236}">
                <a16:creationId xmlns:a16="http://schemas.microsoft.com/office/drawing/2014/main" id="{02300EE9-6E39-F8B4-A78E-F07B1F74AFAD}"/>
              </a:ext>
            </a:extLst>
          </p:cNvPr>
          <p:cNvSpPr>
            <a:spLocks noGrp="1"/>
          </p:cNvSpPr>
          <p:nvPr>
            <p:ph idx="1"/>
          </p:nvPr>
        </p:nvSpPr>
        <p:spPr>
          <a:xfrm>
            <a:off x="426720" y="1253330"/>
            <a:ext cx="11384280" cy="5299869"/>
          </a:xfrm>
        </p:spPr>
        <p:txBody>
          <a:bodyPr>
            <a:normAutofit fontScale="85000" lnSpcReduction="10000"/>
          </a:bodyPr>
          <a:lstStyle/>
          <a:p>
            <a:pPr marL="0" indent="0" algn="just">
              <a:lnSpc>
                <a:spcPct val="150000"/>
              </a:lnSpc>
              <a:buNone/>
            </a:pPr>
            <a:r>
              <a:rPr lang="en-US" dirty="0"/>
              <a:t>The results of ELISA vary based on what it’s testing and the laboratory that processed the test. Many ELISA tests have a positive or negative result, but some might be invalid:</a:t>
            </a:r>
          </a:p>
          <a:p>
            <a:pPr algn="just">
              <a:lnSpc>
                <a:spcPct val="150000"/>
              </a:lnSpc>
            </a:pPr>
            <a:r>
              <a:rPr lang="en-US" b="1" dirty="0"/>
              <a:t>Positive</a:t>
            </a:r>
            <a:r>
              <a:rPr lang="en-US" dirty="0"/>
              <a:t> </a:t>
            </a:r>
            <a:r>
              <a:rPr lang="en-US" b="1" dirty="0"/>
              <a:t>result</a:t>
            </a:r>
            <a:r>
              <a:rPr lang="en-US" dirty="0"/>
              <a:t>: A positive result means that the test detected the substance it was checking for.</a:t>
            </a:r>
          </a:p>
          <a:p>
            <a:pPr algn="just">
              <a:lnSpc>
                <a:spcPct val="150000"/>
              </a:lnSpc>
            </a:pPr>
            <a:r>
              <a:rPr lang="en-US" b="1" dirty="0"/>
              <a:t>Negative</a:t>
            </a:r>
            <a:r>
              <a:rPr lang="en-US" dirty="0"/>
              <a:t> </a:t>
            </a:r>
            <a:r>
              <a:rPr lang="en-US" b="1" dirty="0"/>
              <a:t>result</a:t>
            </a:r>
            <a:r>
              <a:rPr lang="en-US" dirty="0"/>
              <a:t>: A negative result means that the test didn’t detect any of the substance it was checking for.</a:t>
            </a:r>
          </a:p>
          <a:p>
            <a:pPr algn="just">
              <a:lnSpc>
                <a:spcPct val="150000"/>
              </a:lnSpc>
            </a:pPr>
            <a:r>
              <a:rPr lang="en-US" b="1" dirty="0"/>
              <a:t>Invalid</a:t>
            </a:r>
            <a:r>
              <a:rPr lang="en-US" dirty="0"/>
              <a:t> </a:t>
            </a:r>
            <a:r>
              <a:rPr lang="en-US" b="1" dirty="0"/>
              <a:t>result</a:t>
            </a:r>
            <a:r>
              <a:rPr lang="en-US" dirty="0"/>
              <a:t>: An invalid result means there was an error in the testing. This could mean an issue with the sample collection or the test itself. You’ll need to take another test.</a:t>
            </a:r>
          </a:p>
        </p:txBody>
      </p:sp>
    </p:spTree>
    <p:extLst>
      <p:ext uri="{BB962C8B-B14F-4D97-AF65-F5344CB8AC3E}">
        <p14:creationId xmlns:p14="http://schemas.microsoft.com/office/powerpoint/2010/main" val="1602681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30974-20AA-B3BA-73BC-68D1CA4F4745}"/>
              </a:ext>
            </a:extLst>
          </p:cNvPr>
          <p:cNvSpPr>
            <a:spLocks noGrp="1"/>
          </p:cNvSpPr>
          <p:nvPr>
            <p:ph type="title"/>
          </p:nvPr>
        </p:nvSpPr>
        <p:spPr/>
        <p:txBody>
          <a:bodyPr/>
          <a:lstStyle/>
          <a:p>
            <a:r>
              <a:rPr lang="en-US" b="1" dirty="0"/>
              <a:t>How does the ELISA technique work?</a:t>
            </a:r>
          </a:p>
        </p:txBody>
      </p:sp>
      <p:sp>
        <p:nvSpPr>
          <p:cNvPr id="3" name="Content Placeholder 2">
            <a:extLst>
              <a:ext uri="{FF2B5EF4-FFF2-40B4-BE49-F238E27FC236}">
                <a16:creationId xmlns:a16="http://schemas.microsoft.com/office/drawing/2014/main" id="{0BFA11CF-FD8A-E2BA-4A15-CAA912C0C1B6}"/>
              </a:ext>
            </a:extLst>
          </p:cNvPr>
          <p:cNvSpPr>
            <a:spLocks noGrp="1"/>
          </p:cNvSpPr>
          <p:nvPr>
            <p:ph idx="1"/>
          </p:nvPr>
        </p:nvSpPr>
        <p:spPr>
          <a:xfrm>
            <a:off x="838200" y="1810385"/>
            <a:ext cx="10515600" cy="4351338"/>
          </a:xfrm>
        </p:spPr>
        <p:txBody>
          <a:bodyPr/>
          <a:lstStyle/>
          <a:p>
            <a:pPr marL="0" indent="0" algn="just">
              <a:lnSpc>
                <a:spcPct val="150000"/>
              </a:lnSpc>
              <a:buNone/>
            </a:pPr>
            <a:r>
              <a:rPr lang="en-US" b="0" i="0" dirty="0">
                <a:effectLst/>
                <a:latin typeface="__Roboto_ba6641"/>
              </a:rPr>
              <a:t>There are several variations of an ELISA technique depending on whether it’s checking for antibodies or antigens. An example of checking for antibodies can give you an idea of how it works. Most tests that use ELISA are automated — machines do most of the processing work. But to understand the technique, this example will highlight a manual preparation of the test.</a:t>
            </a:r>
            <a:endParaRPr lang="en-US" dirty="0"/>
          </a:p>
        </p:txBody>
      </p:sp>
    </p:spTree>
    <p:extLst>
      <p:ext uri="{BB962C8B-B14F-4D97-AF65-F5344CB8AC3E}">
        <p14:creationId xmlns:p14="http://schemas.microsoft.com/office/powerpoint/2010/main" val="579250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7E73AA-4CF4-195F-5328-6B5E4F920A99}"/>
              </a:ext>
            </a:extLst>
          </p:cNvPr>
          <p:cNvSpPr>
            <a:spLocks noGrp="1"/>
          </p:cNvSpPr>
          <p:nvPr>
            <p:ph idx="1"/>
          </p:nvPr>
        </p:nvSpPr>
        <p:spPr>
          <a:xfrm>
            <a:off x="170497" y="1249680"/>
            <a:ext cx="4340543" cy="5395595"/>
          </a:xfrm>
        </p:spPr>
        <p:txBody>
          <a:bodyPr>
            <a:normAutofit fontScale="55000" lnSpcReduction="20000"/>
          </a:bodyPr>
          <a:lstStyle/>
          <a:p>
            <a:pPr marL="0" indent="0">
              <a:lnSpc>
                <a:spcPct val="150000"/>
              </a:lnSpc>
              <a:buNone/>
            </a:pPr>
            <a:r>
              <a:rPr lang="en-US" sz="4400" b="0" i="0" dirty="0">
                <a:effectLst/>
                <a:latin typeface="__Roboto_ba6641"/>
              </a:rPr>
              <a:t>Let’s say you’re getting screened for HIV (human immunodeficiency virus) through the ELISA technique, and you’ve already given a blood sample. A medical laboratory scientist or technician first attaches a portion of the HIV virus to a solid surface, like a medical tube or plastic plate. This virus acts as the antigen.</a:t>
            </a:r>
          </a:p>
          <a:p>
            <a:pPr marL="0" indent="0" algn="just">
              <a:lnSpc>
                <a:spcPct val="150000"/>
              </a:lnSpc>
              <a:buNone/>
            </a:pPr>
            <a:endParaRPr lang="en-US" dirty="0"/>
          </a:p>
        </p:txBody>
      </p:sp>
      <p:sp>
        <p:nvSpPr>
          <p:cNvPr id="4" name="Title 1">
            <a:extLst>
              <a:ext uri="{FF2B5EF4-FFF2-40B4-BE49-F238E27FC236}">
                <a16:creationId xmlns:a16="http://schemas.microsoft.com/office/drawing/2014/main" id="{62C0482E-9400-6D72-6607-7F8437CDD7E9}"/>
              </a:ext>
            </a:extLst>
          </p:cNvPr>
          <p:cNvSpPr>
            <a:spLocks noGrp="1"/>
          </p:cNvSpPr>
          <p:nvPr>
            <p:ph type="title"/>
          </p:nvPr>
        </p:nvSpPr>
        <p:spPr>
          <a:xfrm>
            <a:off x="678180" y="212725"/>
            <a:ext cx="2377440" cy="671195"/>
          </a:xfrm>
        </p:spPr>
        <p:txBody>
          <a:bodyPr>
            <a:normAutofit/>
          </a:bodyPr>
          <a:lstStyle/>
          <a:p>
            <a:r>
              <a:rPr lang="en-US" sz="3600" b="1" dirty="0"/>
              <a:t>Continue…</a:t>
            </a:r>
          </a:p>
        </p:txBody>
      </p:sp>
      <p:pic>
        <p:nvPicPr>
          <p:cNvPr id="1026" name="Picture 2">
            <a:extLst>
              <a:ext uri="{FF2B5EF4-FFF2-40B4-BE49-F238E27FC236}">
                <a16:creationId xmlns:a16="http://schemas.microsoft.com/office/drawing/2014/main" id="{D6B6AC25-260B-2192-D72E-158131B5B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1040" y="975360"/>
            <a:ext cx="7373303" cy="558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298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4DC335-3CAC-4EA4-2E9A-60F0582883A0}"/>
              </a:ext>
            </a:extLst>
          </p:cNvPr>
          <p:cNvSpPr>
            <a:spLocks noGrp="1"/>
          </p:cNvSpPr>
          <p:nvPr>
            <p:ph idx="1"/>
          </p:nvPr>
        </p:nvSpPr>
        <p:spPr>
          <a:xfrm>
            <a:off x="510540" y="948530"/>
            <a:ext cx="11170920" cy="5772310"/>
          </a:xfrm>
        </p:spPr>
        <p:txBody>
          <a:bodyPr>
            <a:normAutofit fontScale="92500"/>
          </a:bodyPr>
          <a:lstStyle/>
          <a:p>
            <a:pPr marL="0" indent="0" algn="just">
              <a:lnSpc>
                <a:spcPct val="170000"/>
              </a:lnSpc>
              <a:buNone/>
            </a:pPr>
            <a:r>
              <a:rPr lang="en-US" b="0" i="0" dirty="0">
                <a:effectLst/>
                <a:latin typeface="__Roboto_ba6641"/>
              </a:rPr>
              <a:t>The laboratory scientist will then add your blood sample to the tube or plate. If your blood sample contains antibodies for HIV, they’ll bind to the antigen (the virus, in this case). If your blood sample doesn’t contain antibodies for HIV, nothing will happen.</a:t>
            </a:r>
          </a:p>
          <a:p>
            <a:pPr marL="0" indent="0" algn="just">
              <a:lnSpc>
                <a:spcPct val="170000"/>
              </a:lnSpc>
              <a:buNone/>
            </a:pPr>
            <a:r>
              <a:rPr lang="en-US" b="0" i="0" dirty="0">
                <a:effectLst/>
                <a:latin typeface="__Roboto_ba6641"/>
              </a:rPr>
              <a:t>The laboratory scientist then adds another antibody that “knows” the HIV antibodies. They bind to any antibody that’s already attached to the antigen. This second antibody is linked with an enzyme (a substance that speeds up a chemical reaction). This is the “enzyme-linked” portion of ELISA.</a:t>
            </a:r>
          </a:p>
        </p:txBody>
      </p:sp>
      <p:sp>
        <p:nvSpPr>
          <p:cNvPr id="6" name="Title 1">
            <a:extLst>
              <a:ext uri="{FF2B5EF4-FFF2-40B4-BE49-F238E27FC236}">
                <a16:creationId xmlns:a16="http://schemas.microsoft.com/office/drawing/2014/main" id="{E8EDCEF2-6E3B-E504-DDE0-BEF301F77CA3}"/>
              </a:ext>
            </a:extLst>
          </p:cNvPr>
          <p:cNvSpPr>
            <a:spLocks noGrp="1"/>
          </p:cNvSpPr>
          <p:nvPr>
            <p:ph type="title"/>
          </p:nvPr>
        </p:nvSpPr>
        <p:spPr>
          <a:xfrm>
            <a:off x="678180" y="212725"/>
            <a:ext cx="2377440" cy="671195"/>
          </a:xfrm>
        </p:spPr>
        <p:txBody>
          <a:bodyPr>
            <a:normAutofit/>
          </a:bodyPr>
          <a:lstStyle/>
          <a:p>
            <a:r>
              <a:rPr lang="en-US" sz="3600" b="1" dirty="0"/>
              <a:t>Continue…</a:t>
            </a:r>
          </a:p>
        </p:txBody>
      </p:sp>
    </p:spTree>
    <p:extLst>
      <p:ext uri="{BB962C8B-B14F-4D97-AF65-F5344CB8AC3E}">
        <p14:creationId xmlns:p14="http://schemas.microsoft.com/office/powerpoint/2010/main" val="3797307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BB7AD6-75F0-7997-CE4F-576162B9E3C7}"/>
              </a:ext>
            </a:extLst>
          </p:cNvPr>
          <p:cNvSpPr>
            <a:spLocks noGrp="1"/>
          </p:cNvSpPr>
          <p:nvPr>
            <p:ph idx="1"/>
          </p:nvPr>
        </p:nvSpPr>
        <p:spPr>
          <a:xfrm>
            <a:off x="678180" y="1095374"/>
            <a:ext cx="10949940" cy="5442585"/>
          </a:xfrm>
        </p:spPr>
        <p:txBody>
          <a:bodyPr>
            <a:normAutofit/>
          </a:bodyPr>
          <a:lstStyle/>
          <a:p>
            <a:pPr marL="0" indent="0" algn="just">
              <a:lnSpc>
                <a:spcPct val="170000"/>
              </a:lnSpc>
              <a:buNone/>
            </a:pPr>
            <a:r>
              <a:rPr lang="en-US" sz="2400" i="0" dirty="0">
                <a:effectLst/>
                <a:latin typeface="__Roboto_ba6641"/>
              </a:rPr>
              <a:t>In the final step, the laboratory scientist adds a substance that reacts with the enzyme. This makes the substances change color if the antibodies are present. In other words, if the test is positive, then a color reaction will occur. If you don’t have antibodies to that certain antigen (the HIV virus, in this case), there will be no color change. This would read as a negative result.</a:t>
            </a:r>
          </a:p>
          <a:p>
            <a:pPr marL="0" indent="0" algn="just">
              <a:lnSpc>
                <a:spcPct val="170000"/>
              </a:lnSpc>
              <a:buNone/>
            </a:pPr>
            <a:r>
              <a:rPr lang="en-US" sz="2400" i="0" dirty="0">
                <a:effectLst/>
                <a:latin typeface="__Roboto_ba6641"/>
              </a:rPr>
              <a:t>The intensity of the color change is proportional to the amount of the antibody. So ELISA can determine both the presence of the antibody and how much of it there is.</a:t>
            </a:r>
          </a:p>
        </p:txBody>
      </p:sp>
      <p:sp>
        <p:nvSpPr>
          <p:cNvPr id="4" name="Title 1">
            <a:extLst>
              <a:ext uri="{FF2B5EF4-FFF2-40B4-BE49-F238E27FC236}">
                <a16:creationId xmlns:a16="http://schemas.microsoft.com/office/drawing/2014/main" id="{E44E6D79-4190-822B-BF52-15B870E9B94D}"/>
              </a:ext>
            </a:extLst>
          </p:cNvPr>
          <p:cNvSpPr txBox="1">
            <a:spLocks/>
          </p:cNvSpPr>
          <p:nvPr/>
        </p:nvSpPr>
        <p:spPr>
          <a:xfrm>
            <a:off x="678180" y="212725"/>
            <a:ext cx="2377440" cy="6711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t>Continue…</a:t>
            </a:r>
            <a:endParaRPr lang="en-US" sz="3600" b="1" dirty="0"/>
          </a:p>
        </p:txBody>
      </p:sp>
    </p:spTree>
    <p:extLst>
      <p:ext uri="{BB962C8B-B14F-4D97-AF65-F5344CB8AC3E}">
        <p14:creationId xmlns:p14="http://schemas.microsoft.com/office/powerpoint/2010/main" val="3279015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86D6-251C-71A0-8E2A-81D7A600B8F0}"/>
              </a:ext>
            </a:extLst>
          </p:cNvPr>
          <p:cNvSpPr>
            <a:spLocks noGrp="1"/>
          </p:cNvSpPr>
          <p:nvPr>
            <p:ph type="title"/>
          </p:nvPr>
        </p:nvSpPr>
        <p:spPr>
          <a:xfrm>
            <a:off x="838200" y="1173162"/>
            <a:ext cx="10515600" cy="4511675"/>
          </a:xfrm>
        </p:spPr>
        <p:txBody>
          <a:bodyPr>
            <a:normAutofit/>
          </a:bodyPr>
          <a:lstStyle/>
          <a:p>
            <a:pPr algn="ctr"/>
            <a:r>
              <a:rPr lang="en-US" sz="5400" b="1" dirty="0">
                <a:latin typeface="Agency FB" panose="020B0503020202020204" pitchFamily="34" charset="0"/>
              </a:rPr>
              <a:t>Thank You …!</a:t>
            </a:r>
            <a:br>
              <a:rPr lang="en-US" sz="5400" b="1" dirty="0">
                <a:latin typeface="Agency FB" panose="020B0503020202020204" pitchFamily="34" charset="0"/>
              </a:rPr>
            </a:br>
            <a:br>
              <a:rPr lang="en-US" sz="5400" b="1" dirty="0">
                <a:latin typeface="Agency FB" panose="020B0503020202020204" pitchFamily="34" charset="0"/>
              </a:rPr>
            </a:br>
            <a:r>
              <a:rPr lang="en-US" sz="5400" b="1" dirty="0">
                <a:latin typeface="Agency FB" panose="020B0503020202020204" pitchFamily="34" charset="0"/>
              </a:rPr>
              <a:t>Any Questions…?</a:t>
            </a:r>
          </a:p>
        </p:txBody>
      </p:sp>
    </p:spTree>
    <p:extLst>
      <p:ext uri="{BB962C8B-B14F-4D97-AF65-F5344CB8AC3E}">
        <p14:creationId xmlns:p14="http://schemas.microsoft.com/office/powerpoint/2010/main" val="1589274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2915</TotalTime>
  <Words>1163</Words>
  <Application>Microsoft Office PowerPoint</Application>
  <PresentationFormat>Widescreen</PresentationFormat>
  <Paragraphs>62</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__Roboto_ba6641</vt:lpstr>
      <vt:lpstr>Agency FB</vt:lpstr>
      <vt:lpstr>Arial</vt:lpstr>
      <vt:lpstr>Calibri</vt:lpstr>
      <vt:lpstr>Calibri Light</vt:lpstr>
      <vt:lpstr>Times New Roman</vt:lpstr>
      <vt:lpstr>Office Theme</vt:lpstr>
      <vt:lpstr>“ELISA”</vt:lpstr>
      <vt:lpstr>What we will discuss…</vt:lpstr>
      <vt:lpstr>What is ELISA?</vt:lpstr>
      <vt:lpstr>Continue…</vt:lpstr>
      <vt:lpstr>What are immunoassays?</vt:lpstr>
      <vt:lpstr>Continue…</vt:lpstr>
      <vt:lpstr>What are the uses of ELISA?</vt:lpstr>
      <vt:lpstr>Continue…</vt:lpstr>
      <vt:lpstr>Continue…</vt:lpstr>
      <vt:lpstr>Continue…</vt:lpstr>
      <vt:lpstr>What type of results do you get from ELISA?</vt:lpstr>
      <vt:lpstr>How does the ELISA technique work?</vt:lpstr>
      <vt:lpstr>Continue…</vt:lpstr>
      <vt:lpstr>Continue…</vt:lpstr>
      <vt:lpstr>PowerPoint Presentation</vt:lpstr>
      <vt:lpstr>Thank You …!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hussain ahmad khan</dc:creator>
  <cp:lastModifiedBy>hussain ahmad khan</cp:lastModifiedBy>
  <cp:revision>3</cp:revision>
  <cp:lastPrinted>2024-07-20T07:15:26Z</cp:lastPrinted>
  <dcterms:created xsi:type="dcterms:W3CDTF">2024-07-12T18:52:47Z</dcterms:created>
  <dcterms:modified xsi:type="dcterms:W3CDTF">2024-07-20T08:27:06Z</dcterms:modified>
</cp:coreProperties>
</file>